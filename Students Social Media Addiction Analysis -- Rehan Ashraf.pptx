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Montserrat" panose="00000500000000000000" pitchFamily="2" charset="0"/>
      <p:regular r:id="rId29"/>
    </p:embeddedFont>
    <p:embeddedFont>
      <p:font typeface="Montserrat Bold" panose="020B0604020202020204" charset="0"/>
      <p:regular r:id="rId30"/>
    </p:embeddedFont>
    <p:embeddedFont>
      <p:font typeface="Poppins" panose="00000500000000000000" pitchFamily="2" charset="0"/>
      <p:regular r:id="rId31"/>
    </p:embeddedFont>
    <p:embeddedFont>
      <p:font typeface="Poppi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a:off x="1028700" y="1021827"/>
            <a:ext cx="1537694" cy="1537694"/>
          </a:xfrm>
          <a:custGeom>
            <a:avLst/>
            <a:gdLst/>
            <a:ahLst/>
            <a:cxnLst/>
            <a:rect l="l" t="t" r="r" b="b"/>
            <a:pathLst>
              <a:path w="1537694" h="1537694">
                <a:moveTo>
                  <a:pt x="0" y="0"/>
                </a:moveTo>
                <a:lnTo>
                  <a:pt x="1537694" y="0"/>
                </a:lnTo>
                <a:lnTo>
                  <a:pt x="1537694" y="1537694"/>
                </a:lnTo>
                <a:lnTo>
                  <a:pt x="0" y="153769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322779"/>
            <a:ext cx="3923064" cy="3153163"/>
          </a:xfrm>
          <a:custGeom>
            <a:avLst/>
            <a:gdLst/>
            <a:ahLst/>
            <a:cxnLst/>
            <a:rect l="l" t="t" r="r" b="b"/>
            <a:pathLst>
              <a:path w="3923064" h="3153163">
                <a:moveTo>
                  <a:pt x="0" y="0"/>
                </a:moveTo>
                <a:lnTo>
                  <a:pt x="3923064" y="0"/>
                </a:lnTo>
                <a:lnTo>
                  <a:pt x="3923064" y="3153163"/>
                </a:lnTo>
                <a:lnTo>
                  <a:pt x="0" y="3153163"/>
                </a:lnTo>
                <a:lnTo>
                  <a:pt x="0" y="0"/>
                </a:lnTo>
                <a:close/>
              </a:path>
            </a:pathLst>
          </a:custGeom>
          <a:blipFill>
            <a:blip r:embed="rId4"/>
            <a:stretch>
              <a:fillRect/>
            </a:stretch>
          </a:blipFill>
        </p:spPr>
      </p:sp>
      <p:sp>
        <p:nvSpPr>
          <p:cNvPr id="4" name="Freeform 4"/>
          <p:cNvSpPr/>
          <p:nvPr/>
        </p:nvSpPr>
        <p:spPr>
          <a:xfrm rot="-10800000">
            <a:off x="15723824" y="15029"/>
            <a:ext cx="2564176" cy="2060956"/>
          </a:xfrm>
          <a:custGeom>
            <a:avLst/>
            <a:gdLst/>
            <a:ahLst/>
            <a:cxnLst/>
            <a:rect l="l" t="t" r="r" b="b"/>
            <a:pathLst>
              <a:path w="2564176" h="2060956">
                <a:moveTo>
                  <a:pt x="0" y="0"/>
                </a:moveTo>
                <a:lnTo>
                  <a:pt x="2564176" y="0"/>
                </a:lnTo>
                <a:lnTo>
                  <a:pt x="2564176" y="2060956"/>
                </a:lnTo>
                <a:lnTo>
                  <a:pt x="0" y="2060956"/>
                </a:lnTo>
                <a:lnTo>
                  <a:pt x="0" y="0"/>
                </a:lnTo>
                <a:close/>
              </a:path>
            </a:pathLst>
          </a:custGeom>
          <a:blipFill>
            <a:blip r:embed="rId4"/>
            <a:stretch>
              <a:fillRect/>
            </a:stretch>
          </a:blipFill>
        </p:spPr>
      </p:sp>
      <p:sp>
        <p:nvSpPr>
          <p:cNvPr id="5" name="TextBox 5"/>
          <p:cNvSpPr txBox="1"/>
          <p:nvPr/>
        </p:nvSpPr>
        <p:spPr>
          <a:xfrm>
            <a:off x="2619429" y="3789362"/>
            <a:ext cx="13159648" cy="2670175"/>
          </a:xfrm>
          <a:prstGeom prst="rect">
            <a:avLst/>
          </a:prstGeom>
        </p:spPr>
        <p:txBody>
          <a:bodyPr lIns="0" tIns="0" rIns="0" bIns="0" rtlCol="0" anchor="t">
            <a:spAutoFit/>
          </a:bodyPr>
          <a:lstStyle/>
          <a:p>
            <a:pPr algn="ctr">
              <a:lnSpc>
                <a:spcPts val="10624"/>
              </a:lnSpc>
            </a:pPr>
            <a:r>
              <a:rPr lang="en-US" sz="8499" b="1">
                <a:solidFill>
                  <a:srgbClr val="533800"/>
                </a:solidFill>
                <a:latin typeface="Montserrat Bold"/>
                <a:ea typeface="Montserrat Bold"/>
                <a:cs typeface="Montserrat Bold"/>
                <a:sym typeface="Montserrat Bold"/>
              </a:rPr>
              <a:t>Digital Addiction Analytics</a:t>
            </a:r>
          </a:p>
        </p:txBody>
      </p:sp>
      <p:sp>
        <p:nvSpPr>
          <p:cNvPr id="6" name="TextBox 6"/>
          <p:cNvSpPr txBox="1"/>
          <p:nvPr/>
        </p:nvSpPr>
        <p:spPr>
          <a:xfrm>
            <a:off x="1961532" y="8495030"/>
            <a:ext cx="14475443" cy="763270"/>
          </a:xfrm>
          <a:prstGeom prst="rect">
            <a:avLst/>
          </a:prstGeom>
        </p:spPr>
        <p:txBody>
          <a:bodyPr lIns="0" tIns="0" rIns="0" bIns="0" rtlCol="0" anchor="t">
            <a:spAutoFit/>
          </a:bodyPr>
          <a:lstStyle/>
          <a:p>
            <a:pPr algn="ctr">
              <a:lnSpc>
                <a:spcPts val="3079"/>
              </a:lnSpc>
            </a:pPr>
            <a:r>
              <a:rPr lang="en-US" sz="2199">
                <a:solidFill>
                  <a:srgbClr val="70531C"/>
                </a:solidFill>
                <a:latin typeface="Montserrat"/>
                <a:ea typeface="Montserrat"/>
                <a:cs typeface="Montserrat"/>
                <a:sym typeface="Montserrat"/>
              </a:rPr>
              <a:t>Understanding the impact of social media addiction on</a:t>
            </a:r>
          </a:p>
          <a:p>
            <a:pPr algn="ctr">
              <a:lnSpc>
                <a:spcPts val="3079"/>
              </a:lnSpc>
            </a:pPr>
            <a:r>
              <a:rPr lang="en-US" sz="2199">
                <a:solidFill>
                  <a:srgbClr val="70531C"/>
                </a:solidFill>
                <a:latin typeface="Montserrat"/>
                <a:ea typeface="Montserrat"/>
                <a:cs typeface="Montserrat"/>
                <a:sym typeface="Montserrat"/>
              </a:rPr>
              <a:t>Academics, Sleep, Mental Health &amp; Social Life</a:t>
            </a:r>
          </a:p>
        </p:txBody>
      </p:sp>
      <p:sp>
        <p:nvSpPr>
          <p:cNvPr id="7" name="TextBox 7"/>
          <p:cNvSpPr txBox="1"/>
          <p:nvPr/>
        </p:nvSpPr>
        <p:spPr>
          <a:xfrm>
            <a:off x="2619429" y="3036430"/>
            <a:ext cx="13159648" cy="622298"/>
          </a:xfrm>
          <a:prstGeom prst="rect">
            <a:avLst/>
          </a:prstGeom>
        </p:spPr>
        <p:txBody>
          <a:bodyPr lIns="0" tIns="0" rIns="0" bIns="0" rtlCol="0" anchor="t">
            <a:spAutoFit/>
          </a:bodyPr>
          <a:lstStyle/>
          <a:p>
            <a:pPr algn="ctr">
              <a:lnSpc>
                <a:spcPts val="5000"/>
              </a:lnSpc>
            </a:pPr>
            <a:r>
              <a:rPr lang="en-US" sz="4000">
                <a:solidFill>
                  <a:srgbClr val="533800"/>
                </a:solidFill>
                <a:latin typeface="Montserrat"/>
                <a:ea typeface="Montserrat"/>
                <a:cs typeface="Montserrat"/>
                <a:sym typeface="Montserrat"/>
              </a:rPr>
              <a:t>Data Analytics Project - 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a:off x="1028700" y="1021827"/>
            <a:ext cx="1537694" cy="1537694"/>
          </a:xfrm>
          <a:custGeom>
            <a:avLst/>
            <a:gdLst/>
            <a:ahLst/>
            <a:cxnLst/>
            <a:rect l="l" t="t" r="r" b="b"/>
            <a:pathLst>
              <a:path w="1537694" h="1537694">
                <a:moveTo>
                  <a:pt x="0" y="0"/>
                </a:moveTo>
                <a:lnTo>
                  <a:pt x="1537694" y="0"/>
                </a:lnTo>
                <a:lnTo>
                  <a:pt x="1537694" y="1537694"/>
                </a:lnTo>
                <a:lnTo>
                  <a:pt x="0" y="1537694"/>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sp>
      <p:sp>
        <p:nvSpPr>
          <p:cNvPr id="3" name="Freeform 3"/>
          <p:cNvSpPr/>
          <p:nvPr/>
        </p:nvSpPr>
        <p:spPr>
          <a:xfrm>
            <a:off x="0" y="7322779"/>
            <a:ext cx="3923064" cy="3153163"/>
          </a:xfrm>
          <a:custGeom>
            <a:avLst/>
            <a:gdLst/>
            <a:ahLst/>
            <a:cxnLst/>
            <a:rect l="l" t="t" r="r" b="b"/>
            <a:pathLst>
              <a:path w="3923064" h="3153163">
                <a:moveTo>
                  <a:pt x="0" y="0"/>
                </a:moveTo>
                <a:lnTo>
                  <a:pt x="3923064" y="0"/>
                </a:lnTo>
                <a:lnTo>
                  <a:pt x="3923064" y="3153163"/>
                </a:lnTo>
                <a:lnTo>
                  <a:pt x="0" y="3153163"/>
                </a:lnTo>
                <a:lnTo>
                  <a:pt x="0" y="0"/>
                </a:lnTo>
                <a:close/>
              </a:path>
            </a:pathLst>
          </a:custGeom>
          <a:blipFill>
            <a:blip r:embed="rId4"/>
            <a:stretch>
              <a:fillRect/>
            </a:stretch>
          </a:blipFill>
        </p:spPr>
      </p:sp>
      <p:sp>
        <p:nvSpPr>
          <p:cNvPr id="4" name="Freeform 4"/>
          <p:cNvSpPr/>
          <p:nvPr/>
        </p:nvSpPr>
        <p:spPr>
          <a:xfrm rot="-10800000">
            <a:off x="15723824" y="15029"/>
            <a:ext cx="2564176" cy="2060956"/>
          </a:xfrm>
          <a:custGeom>
            <a:avLst/>
            <a:gdLst/>
            <a:ahLst/>
            <a:cxnLst/>
            <a:rect l="l" t="t" r="r" b="b"/>
            <a:pathLst>
              <a:path w="2564176" h="2060956">
                <a:moveTo>
                  <a:pt x="0" y="0"/>
                </a:moveTo>
                <a:lnTo>
                  <a:pt x="2564176" y="0"/>
                </a:lnTo>
                <a:lnTo>
                  <a:pt x="2564176" y="2060956"/>
                </a:lnTo>
                <a:lnTo>
                  <a:pt x="0" y="2060956"/>
                </a:lnTo>
                <a:lnTo>
                  <a:pt x="0" y="0"/>
                </a:lnTo>
                <a:close/>
              </a:path>
            </a:pathLst>
          </a:custGeom>
          <a:blipFill>
            <a:blip r:embed="rId4"/>
            <a:stretch>
              <a:fillRect/>
            </a:stretch>
          </a:blipFill>
        </p:spPr>
      </p:sp>
      <p:sp>
        <p:nvSpPr>
          <p:cNvPr id="5" name="Freeform 5"/>
          <p:cNvSpPr/>
          <p:nvPr/>
        </p:nvSpPr>
        <p:spPr>
          <a:xfrm>
            <a:off x="13953772" y="9005156"/>
            <a:ext cx="506288" cy="506288"/>
          </a:xfrm>
          <a:custGeom>
            <a:avLst/>
            <a:gdLst/>
            <a:ahLst/>
            <a:cxnLst/>
            <a:rect l="l" t="t" r="r" b="b"/>
            <a:pathLst>
              <a:path w="506288" h="506288">
                <a:moveTo>
                  <a:pt x="0" y="0"/>
                </a:moveTo>
                <a:lnTo>
                  <a:pt x="506287" y="0"/>
                </a:lnTo>
                <a:lnTo>
                  <a:pt x="506287" y="506288"/>
                </a:lnTo>
                <a:lnTo>
                  <a:pt x="0" y="506288"/>
                </a:lnTo>
                <a:lnTo>
                  <a:pt x="0" y="0"/>
                </a:lnTo>
                <a:close/>
              </a:path>
            </a:pathLst>
          </a:custGeom>
          <a:blipFill>
            <a:blip r:embed="rId5"/>
            <a:stretch>
              <a:fillRect/>
            </a:stretch>
          </a:blipFill>
        </p:spPr>
      </p:sp>
      <p:sp>
        <p:nvSpPr>
          <p:cNvPr id="6" name="Freeform 6"/>
          <p:cNvSpPr/>
          <p:nvPr/>
        </p:nvSpPr>
        <p:spPr>
          <a:xfrm>
            <a:off x="2057887" y="8955582"/>
            <a:ext cx="506288" cy="506288"/>
          </a:xfrm>
          <a:custGeom>
            <a:avLst/>
            <a:gdLst/>
            <a:ahLst/>
            <a:cxnLst/>
            <a:rect l="l" t="t" r="r" b="b"/>
            <a:pathLst>
              <a:path w="506288" h="506288">
                <a:moveTo>
                  <a:pt x="0" y="0"/>
                </a:moveTo>
                <a:lnTo>
                  <a:pt x="506287" y="0"/>
                </a:lnTo>
                <a:lnTo>
                  <a:pt x="506287" y="506288"/>
                </a:lnTo>
                <a:lnTo>
                  <a:pt x="0" y="506288"/>
                </a:lnTo>
                <a:lnTo>
                  <a:pt x="0" y="0"/>
                </a:lnTo>
                <a:close/>
              </a:path>
            </a:pathLst>
          </a:custGeom>
          <a:blipFill>
            <a:blip r:embed="rId6"/>
            <a:stretch>
              <a:fillRect/>
            </a:stretch>
          </a:blipFill>
        </p:spPr>
      </p:sp>
      <p:sp>
        <p:nvSpPr>
          <p:cNvPr id="7" name="Freeform 7"/>
          <p:cNvSpPr/>
          <p:nvPr/>
        </p:nvSpPr>
        <p:spPr>
          <a:xfrm>
            <a:off x="7397976" y="8931233"/>
            <a:ext cx="612083" cy="612083"/>
          </a:xfrm>
          <a:custGeom>
            <a:avLst/>
            <a:gdLst/>
            <a:ahLst/>
            <a:cxnLst/>
            <a:rect l="l" t="t" r="r" b="b"/>
            <a:pathLst>
              <a:path w="612083" h="612083">
                <a:moveTo>
                  <a:pt x="0" y="0"/>
                </a:moveTo>
                <a:lnTo>
                  <a:pt x="612083" y="0"/>
                </a:lnTo>
                <a:lnTo>
                  <a:pt x="612083" y="612083"/>
                </a:lnTo>
                <a:lnTo>
                  <a:pt x="0" y="612083"/>
                </a:lnTo>
                <a:lnTo>
                  <a:pt x="0" y="0"/>
                </a:lnTo>
                <a:close/>
              </a:path>
            </a:pathLst>
          </a:custGeom>
          <a:blipFill>
            <a:blip r:embed="rId7"/>
            <a:stretch>
              <a:fillRect/>
            </a:stretch>
          </a:blipFill>
        </p:spPr>
      </p:sp>
      <p:sp>
        <p:nvSpPr>
          <p:cNvPr id="8" name="TextBox 8"/>
          <p:cNvSpPr txBox="1"/>
          <p:nvPr/>
        </p:nvSpPr>
        <p:spPr>
          <a:xfrm>
            <a:off x="2564176" y="4460875"/>
            <a:ext cx="13159648" cy="1327150"/>
          </a:xfrm>
          <a:prstGeom prst="rect">
            <a:avLst/>
          </a:prstGeom>
        </p:spPr>
        <p:txBody>
          <a:bodyPr lIns="0" tIns="0" rIns="0" bIns="0" rtlCol="0" anchor="t">
            <a:spAutoFit/>
          </a:bodyPr>
          <a:lstStyle/>
          <a:p>
            <a:pPr algn="ctr">
              <a:lnSpc>
                <a:spcPts val="10624"/>
              </a:lnSpc>
            </a:pPr>
            <a:r>
              <a:rPr lang="en-US" sz="8499" b="1">
                <a:solidFill>
                  <a:srgbClr val="533800"/>
                </a:solidFill>
                <a:latin typeface="Montserrat Bold"/>
                <a:ea typeface="Montserrat Bold"/>
                <a:cs typeface="Montserrat Bold"/>
                <a:sym typeface="Montserrat Bold"/>
              </a:rPr>
              <a:t>Rehan Ashraf</a:t>
            </a:r>
          </a:p>
        </p:txBody>
      </p:sp>
      <p:sp>
        <p:nvSpPr>
          <p:cNvPr id="9" name="TextBox 9"/>
          <p:cNvSpPr txBox="1"/>
          <p:nvPr/>
        </p:nvSpPr>
        <p:spPr>
          <a:xfrm>
            <a:off x="1797547" y="5749925"/>
            <a:ext cx="14475443" cy="372745"/>
          </a:xfrm>
          <a:prstGeom prst="rect">
            <a:avLst/>
          </a:prstGeom>
        </p:spPr>
        <p:txBody>
          <a:bodyPr lIns="0" tIns="0" rIns="0" bIns="0" rtlCol="0" anchor="t">
            <a:spAutoFit/>
          </a:bodyPr>
          <a:lstStyle/>
          <a:p>
            <a:pPr algn="ctr">
              <a:lnSpc>
                <a:spcPts val="3079"/>
              </a:lnSpc>
            </a:pPr>
            <a:r>
              <a:rPr lang="en-US" sz="2199">
                <a:solidFill>
                  <a:srgbClr val="70531C"/>
                </a:solidFill>
                <a:latin typeface="Montserrat"/>
                <a:ea typeface="Montserrat"/>
                <a:cs typeface="Montserrat"/>
                <a:sym typeface="Montserrat"/>
              </a:rPr>
              <a:t>Aspiring Data Analyst | IIT Jodhpur</a:t>
            </a:r>
          </a:p>
        </p:txBody>
      </p:sp>
      <p:sp>
        <p:nvSpPr>
          <p:cNvPr id="10" name="TextBox 10"/>
          <p:cNvSpPr txBox="1"/>
          <p:nvPr/>
        </p:nvSpPr>
        <p:spPr>
          <a:xfrm>
            <a:off x="2383472" y="3713475"/>
            <a:ext cx="13159648" cy="622298"/>
          </a:xfrm>
          <a:prstGeom prst="rect">
            <a:avLst/>
          </a:prstGeom>
        </p:spPr>
        <p:txBody>
          <a:bodyPr lIns="0" tIns="0" rIns="0" bIns="0" rtlCol="0" anchor="t">
            <a:spAutoFit/>
          </a:bodyPr>
          <a:lstStyle/>
          <a:p>
            <a:pPr algn="ctr">
              <a:lnSpc>
                <a:spcPts val="5000"/>
              </a:lnSpc>
            </a:pPr>
            <a:r>
              <a:rPr lang="en-US" sz="4000" dirty="0">
                <a:solidFill>
                  <a:srgbClr val="533800"/>
                </a:solidFill>
                <a:latin typeface="Montserrat"/>
                <a:ea typeface="Montserrat"/>
                <a:cs typeface="Montserrat"/>
                <a:sym typeface="Montserrat"/>
              </a:rPr>
              <a:t>Presented by</a:t>
            </a:r>
          </a:p>
        </p:txBody>
      </p:sp>
      <p:sp>
        <p:nvSpPr>
          <p:cNvPr id="11" name="TextBox 11"/>
          <p:cNvSpPr txBox="1"/>
          <p:nvPr/>
        </p:nvSpPr>
        <p:spPr>
          <a:xfrm>
            <a:off x="7969938" y="9022353"/>
            <a:ext cx="3942913" cy="372745"/>
          </a:xfrm>
          <a:prstGeom prst="rect">
            <a:avLst/>
          </a:prstGeom>
        </p:spPr>
        <p:txBody>
          <a:bodyPr lIns="0" tIns="0" rIns="0" bIns="0" rtlCol="0" anchor="t">
            <a:spAutoFit/>
          </a:bodyPr>
          <a:lstStyle/>
          <a:p>
            <a:pPr algn="ctr">
              <a:lnSpc>
                <a:spcPts val="3079"/>
              </a:lnSpc>
            </a:pPr>
            <a:r>
              <a:rPr lang="en-US" sz="2199" dirty="0">
                <a:solidFill>
                  <a:srgbClr val="70531C"/>
                </a:solidFill>
                <a:latin typeface="Montserrat"/>
                <a:ea typeface="Montserrat"/>
                <a:cs typeface="Montserrat"/>
                <a:sym typeface="Montserrat"/>
              </a:rPr>
              <a:t>ashraf.lization@gmail.com</a:t>
            </a:r>
          </a:p>
        </p:txBody>
      </p:sp>
      <p:sp>
        <p:nvSpPr>
          <p:cNvPr id="12" name="TextBox 12"/>
          <p:cNvSpPr txBox="1"/>
          <p:nvPr/>
        </p:nvSpPr>
        <p:spPr>
          <a:xfrm>
            <a:off x="2564176" y="9052877"/>
            <a:ext cx="2040922" cy="372745"/>
          </a:xfrm>
          <a:prstGeom prst="rect">
            <a:avLst/>
          </a:prstGeom>
        </p:spPr>
        <p:txBody>
          <a:bodyPr lIns="0" tIns="0" rIns="0" bIns="0" rtlCol="0" anchor="t">
            <a:spAutoFit/>
          </a:bodyPr>
          <a:lstStyle/>
          <a:p>
            <a:pPr algn="ctr">
              <a:lnSpc>
                <a:spcPts val="3079"/>
              </a:lnSpc>
            </a:pPr>
            <a:r>
              <a:rPr lang="en-US" sz="2199" dirty="0" err="1">
                <a:solidFill>
                  <a:srgbClr val="70531C"/>
                </a:solidFill>
                <a:latin typeface="Montserrat"/>
                <a:ea typeface="Montserrat"/>
                <a:cs typeface="Montserrat"/>
                <a:sym typeface="Montserrat"/>
              </a:rPr>
              <a:t>ashraflization</a:t>
            </a:r>
            <a:endParaRPr lang="en-US" sz="2199" dirty="0">
              <a:solidFill>
                <a:srgbClr val="70531C"/>
              </a:solidFill>
              <a:latin typeface="Montserrat"/>
              <a:ea typeface="Montserrat"/>
              <a:cs typeface="Montserrat"/>
              <a:sym typeface="Montserrat"/>
            </a:endParaRPr>
          </a:p>
        </p:txBody>
      </p:sp>
      <p:sp>
        <p:nvSpPr>
          <p:cNvPr id="13" name="TextBox 13"/>
          <p:cNvSpPr txBox="1"/>
          <p:nvPr/>
        </p:nvSpPr>
        <p:spPr>
          <a:xfrm>
            <a:off x="14460059" y="9052877"/>
            <a:ext cx="2040922" cy="372745"/>
          </a:xfrm>
          <a:prstGeom prst="rect">
            <a:avLst/>
          </a:prstGeom>
        </p:spPr>
        <p:txBody>
          <a:bodyPr lIns="0" tIns="0" rIns="0" bIns="0" rtlCol="0" anchor="t">
            <a:spAutoFit/>
          </a:bodyPr>
          <a:lstStyle/>
          <a:p>
            <a:pPr algn="ctr">
              <a:lnSpc>
                <a:spcPts val="3079"/>
              </a:lnSpc>
            </a:pPr>
            <a:r>
              <a:rPr lang="en-US" sz="2199">
                <a:solidFill>
                  <a:srgbClr val="70531C"/>
                </a:solidFill>
                <a:latin typeface="Montserrat"/>
                <a:ea typeface="Montserrat"/>
                <a:cs typeface="Montserrat"/>
                <a:sym typeface="Montserrat"/>
              </a:rPr>
              <a:t>Rehan Ashraf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INTRODUCTION</a:t>
            </a:r>
          </a:p>
        </p:txBody>
      </p:sp>
      <p:sp>
        <p:nvSpPr>
          <p:cNvPr id="5" name="TextBox 5"/>
          <p:cNvSpPr txBox="1"/>
          <p:nvPr/>
        </p:nvSpPr>
        <p:spPr>
          <a:xfrm>
            <a:off x="2350947" y="2632838"/>
            <a:ext cx="13194897"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Smartphones and social media have become an essential part of student life.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While they offer connectivity and information, excessive usage can turn into digital addiction.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This addiction often impacts sleep patterns, academic performance, mental health, and social relationships.</a:t>
            </a:r>
          </a:p>
          <a:p>
            <a:pPr algn="just">
              <a:lnSpc>
                <a:spcPts val="4500"/>
              </a:lnSpc>
            </a:pPr>
            <a:endParaRPr lang="en-US" sz="3000">
              <a:solidFill>
                <a:srgbClr val="70531C"/>
              </a:solidFill>
              <a:latin typeface="Poppins"/>
              <a:ea typeface="Poppins"/>
              <a:cs typeface="Poppins"/>
              <a:sym typeface="Poppins"/>
            </a:endParaRPr>
          </a:p>
        </p:txBody>
      </p:sp>
      <p:sp>
        <p:nvSpPr>
          <p:cNvPr id="6" name="TextBox 6"/>
          <p:cNvSpPr txBox="1"/>
          <p:nvPr/>
        </p:nvSpPr>
        <p:spPr>
          <a:xfrm>
            <a:off x="2350947" y="6644459"/>
            <a:ext cx="13194897" cy="1714500"/>
          </a:xfrm>
          <a:prstGeom prst="rect">
            <a:avLst/>
          </a:prstGeom>
        </p:spPr>
        <p:txBody>
          <a:bodyPr lIns="0" tIns="0" rIns="0" bIns="0" rtlCol="0" anchor="t">
            <a:spAutoFit/>
          </a:bodyPr>
          <a:lstStyle/>
          <a:p>
            <a:pPr algn="just">
              <a:lnSpc>
                <a:spcPts val="4500"/>
              </a:lnSpc>
            </a:pPr>
            <a:r>
              <a:rPr lang="en-US" sz="3000">
                <a:solidFill>
                  <a:srgbClr val="70531C"/>
                </a:solidFill>
                <a:latin typeface="Poppins"/>
                <a:ea typeface="Poppins"/>
                <a:cs typeface="Poppins"/>
                <a:sym typeface="Poppins"/>
              </a:rPr>
              <a:t>Understanding these patterns through data can help identify the real extent of the problem.</a:t>
            </a:r>
          </a:p>
          <a:p>
            <a:pPr algn="just">
              <a:lnSpc>
                <a:spcPts val="4500"/>
              </a:lnSpc>
            </a:pPr>
            <a:endParaRPr lang="en-US" sz="3000">
              <a:solidFill>
                <a:srgbClr val="70531C"/>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PROBLEM STATEMENT</a:t>
            </a:r>
          </a:p>
        </p:txBody>
      </p:sp>
      <p:sp>
        <p:nvSpPr>
          <p:cNvPr id="5" name="TextBox 5"/>
          <p:cNvSpPr txBox="1"/>
          <p:nvPr/>
        </p:nvSpPr>
        <p:spPr>
          <a:xfrm>
            <a:off x="2350947" y="2632838"/>
            <a:ext cx="13194897"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Social media usage among students has increased significantly in recent years.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Excessive screen time is linked to poor sleep, reduced academic focus, and declining mental health.</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However, the behavioral impact of digital addiction is often underestimated.</a:t>
            </a:r>
          </a:p>
          <a:p>
            <a:pPr algn="just">
              <a:lnSpc>
                <a:spcPts val="4500"/>
              </a:lnSpc>
            </a:pPr>
            <a:endParaRPr lang="en-US" sz="3000">
              <a:solidFill>
                <a:srgbClr val="70531C"/>
              </a:solidFill>
              <a:latin typeface="Poppins"/>
              <a:ea typeface="Poppins"/>
              <a:cs typeface="Poppins"/>
              <a:sym typeface="Poppins"/>
            </a:endParaRPr>
          </a:p>
        </p:txBody>
      </p:sp>
      <p:sp>
        <p:nvSpPr>
          <p:cNvPr id="6" name="TextBox 6"/>
          <p:cNvSpPr txBox="1"/>
          <p:nvPr/>
        </p:nvSpPr>
        <p:spPr>
          <a:xfrm>
            <a:off x="2350947" y="6644459"/>
            <a:ext cx="13194897" cy="1143000"/>
          </a:xfrm>
          <a:prstGeom prst="rect">
            <a:avLst/>
          </a:prstGeom>
        </p:spPr>
        <p:txBody>
          <a:bodyPr lIns="0" tIns="0" rIns="0" bIns="0" rtlCol="0" anchor="t">
            <a:spAutoFit/>
          </a:bodyPr>
          <a:lstStyle/>
          <a:p>
            <a:pPr algn="just">
              <a:lnSpc>
                <a:spcPts val="4500"/>
              </a:lnSpc>
            </a:pPr>
            <a:r>
              <a:rPr lang="en-US" sz="3000">
                <a:solidFill>
                  <a:srgbClr val="70531C"/>
                </a:solidFill>
                <a:latin typeface="Poppins"/>
                <a:ea typeface="Poppins"/>
                <a:cs typeface="Poppins"/>
                <a:sym typeface="Poppins"/>
              </a:rPr>
              <a:t>This project uses SQL to analyze student social media usage and identify patterns of digital addiction and its consequences.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DATASET OVERVIEW</a:t>
            </a:r>
          </a:p>
        </p:txBody>
      </p:sp>
      <p:sp>
        <p:nvSpPr>
          <p:cNvPr id="5" name="TextBox 5"/>
          <p:cNvSpPr txBox="1"/>
          <p:nvPr/>
        </p:nvSpPr>
        <p:spPr>
          <a:xfrm>
            <a:off x="2350947" y="3657600"/>
            <a:ext cx="13194897" cy="2857500"/>
          </a:xfrm>
          <a:prstGeom prst="rect">
            <a:avLst/>
          </a:prstGeom>
        </p:spPr>
        <p:txBody>
          <a:bodyPr lIns="0" tIns="0" rIns="0" bIns="0" rtlCol="0" anchor="t">
            <a:spAutoFit/>
          </a:bodyPr>
          <a:lstStyle/>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Dataset: </a:t>
            </a:r>
            <a:r>
              <a:rPr lang="en-US" sz="3000" dirty="0" err="1">
                <a:solidFill>
                  <a:srgbClr val="70531C"/>
                </a:solidFill>
                <a:latin typeface="Poppins"/>
                <a:ea typeface="Poppins"/>
                <a:cs typeface="Poppins"/>
                <a:sym typeface="Poppins"/>
              </a:rPr>
              <a:t>students_addiction</a:t>
            </a:r>
            <a:endParaRPr lang="en-US" sz="3000" dirty="0">
              <a:solidFill>
                <a:srgbClr val="70531C"/>
              </a:solidFill>
              <a:latin typeface="Poppins"/>
              <a:ea typeface="Poppins"/>
              <a:cs typeface="Poppins"/>
              <a:sym typeface="Poppins"/>
            </a:endParaRPr>
          </a:p>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Total Records: 705 students</a:t>
            </a:r>
          </a:p>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Data Type: Survey-based student behavioral data</a:t>
            </a:r>
          </a:p>
          <a:p>
            <a:pPr marL="647700" lvl="1" indent="-323850" algn="just">
              <a:lnSpc>
                <a:spcPts val="4500"/>
              </a:lnSpc>
              <a:buFont typeface="Arial"/>
              <a:buChar char="•"/>
            </a:pPr>
            <a:r>
              <a:rPr lang="en-US" sz="3000" dirty="0">
                <a:solidFill>
                  <a:srgbClr val="70531C"/>
                </a:solidFill>
                <a:latin typeface="Poppins"/>
                <a:ea typeface="Poppins"/>
                <a:cs typeface="Poppins"/>
                <a:sym typeface="Poppins"/>
              </a:rPr>
              <a:t>Structure: Single, denormalized table</a:t>
            </a:r>
          </a:p>
          <a:p>
            <a:pPr algn="just">
              <a:lnSpc>
                <a:spcPts val="4500"/>
              </a:lnSpc>
            </a:pPr>
            <a:endParaRPr lang="en-US" sz="3000" dirty="0">
              <a:solidFill>
                <a:srgbClr val="70531C"/>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KEY ATTRIBUTES</a:t>
            </a:r>
          </a:p>
        </p:txBody>
      </p:sp>
      <p:sp>
        <p:nvSpPr>
          <p:cNvPr id="5" name="TextBox 5"/>
          <p:cNvSpPr txBox="1"/>
          <p:nvPr/>
        </p:nvSpPr>
        <p:spPr>
          <a:xfrm>
            <a:off x="2350947" y="3657600"/>
            <a:ext cx="13194897"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Daily social media usage (hours)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Addiction score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Academic performance impact</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Sleep duration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Mental health score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Social conflicts &amp; demographics</a:t>
            </a:r>
          </a:p>
          <a:p>
            <a:pPr algn="just">
              <a:lnSpc>
                <a:spcPts val="4500"/>
              </a:lnSpc>
            </a:pPr>
            <a:endParaRPr lang="en-US" sz="3000">
              <a:solidFill>
                <a:srgbClr val="70531C"/>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PROJECT FLOW</a:t>
            </a:r>
          </a:p>
        </p:txBody>
      </p:sp>
      <p:sp>
        <p:nvSpPr>
          <p:cNvPr id="5" name="TextBox 5"/>
          <p:cNvSpPr txBox="1"/>
          <p:nvPr/>
        </p:nvSpPr>
        <p:spPr>
          <a:xfrm>
            <a:off x="2350947" y="3657600"/>
            <a:ext cx="13194897" cy="3429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Data import into MySQL Workbench</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Schema optimization &amp; datatype correction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Data cleaning and standardization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Feature engineering (usage &amp; addiction segmentation)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Exploratory data analysis using SQL</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Insight extraction &amp; interpretation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DATA CLEANING &amp; PREPARATION</a:t>
            </a:r>
          </a:p>
        </p:txBody>
      </p:sp>
      <p:sp>
        <p:nvSpPr>
          <p:cNvPr id="5" name="TextBox 5"/>
          <p:cNvSpPr txBox="1"/>
          <p:nvPr/>
        </p:nvSpPr>
        <p:spPr>
          <a:xfrm>
            <a:off x="2350947" y="4189339"/>
            <a:ext cx="13194897" cy="2286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Optimized column data types for analysis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Standardized categorical values (case &amp; formatting)</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Validated numeric ranges (usage hours, sleep, scores)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Checked for missing values and outliers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5400000">
            <a:off x="16033726" y="8032726"/>
            <a:ext cx="2499541" cy="2009006"/>
          </a:xfrm>
          <a:custGeom>
            <a:avLst/>
            <a:gdLst/>
            <a:ahLst/>
            <a:cxnLst/>
            <a:rect l="l" t="t" r="r" b="b"/>
            <a:pathLst>
              <a:path w="2499541" h="2009006">
                <a:moveTo>
                  <a:pt x="0" y="0"/>
                </a:moveTo>
                <a:lnTo>
                  <a:pt x="2499541" y="0"/>
                </a:lnTo>
                <a:lnTo>
                  <a:pt x="2499541" y="2009007"/>
                </a:lnTo>
                <a:lnTo>
                  <a:pt x="0" y="2009007"/>
                </a:lnTo>
                <a:lnTo>
                  <a:pt x="0" y="0"/>
                </a:lnTo>
                <a:close/>
              </a:path>
            </a:pathLst>
          </a:custGeom>
          <a:blipFill>
            <a:blip r:embed="rId2"/>
            <a:stretch>
              <a:fillRect/>
            </a:stretch>
          </a:blipFill>
        </p:spPr>
      </p:sp>
      <p:sp>
        <p:nvSpPr>
          <p:cNvPr id="3" name="Freeform 3"/>
          <p:cNvSpPr/>
          <p:nvPr/>
        </p:nvSpPr>
        <p:spPr>
          <a:xfrm rot="5400000">
            <a:off x="-345165" y="345165"/>
            <a:ext cx="3517604" cy="2827274"/>
          </a:xfrm>
          <a:custGeom>
            <a:avLst/>
            <a:gdLst/>
            <a:ahLst/>
            <a:cxnLst/>
            <a:rect l="l" t="t" r="r" b="b"/>
            <a:pathLst>
              <a:path w="3517604" h="2827274">
                <a:moveTo>
                  <a:pt x="0" y="0"/>
                </a:moveTo>
                <a:lnTo>
                  <a:pt x="3517604" y="0"/>
                </a:lnTo>
                <a:lnTo>
                  <a:pt x="3517604" y="2827274"/>
                </a:lnTo>
                <a:lnTo>
                  <a:pt x="0" y="2827274"/>
                </a:lnTo>
                <a:lnTo>
                  <a:pt x="0" y="0"/>
                </a:lnTo>
                <a:close/>
              </a:path>
            </a:pathLst>
          </a:custGeom>
          <a:blipFill>
            <a:blip r:embed="rId2"/>
            <a:stretch>
              <a:fillRect/>
            </a:stretch>
          </a:blipFill>
        </p:spPr>
      </p:sp>
      <p:sp>
        <p:nvSpPr>
          <p:cNvPr id="4" name="TextBox 4"/>
          <p:cNvSpPr txBox="1"/>
          <p:nvPr/>
        </p:nvSpPr>
        <p:spPr>
          <a:xfrm>
            <a:off x="3071578" y="10730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SEGMENTATION &amp; FEATURE ENGINEERING</a:t>
            </a:r>
          </a:p>
        </p:txBody>
      </p:sp>
      <p:sp>
        <p:nvSpPr>
          <p:cNvPr id="5" name="TextBox 5"/>
          <p:cNvSpPr txBox="1"/>
          <p:nvPr/>
        </p:nvSpPr>
        <p:spPr>
          <a:xfrm>
            <a:off x="2350947" y="3943921"/>
            <a:ext cx="13194897" cy="4572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Categorized students based on daily usage:</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Low (&lt; 2 hours)</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Moderate (2–5 hours)</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High (&gt; 5 hours)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Grouped addiction scores into risk levels:</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Low Risk (1–3)</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Medium Risk (4–6)</a:t>
            </a:r>
          </a:p>
          <a:p>
            <a:pPr marL="1295400" lvl="2" indent="-431800" algn="just">
              <a:lnSpc>
                <a:spcPts val="4500"/>
              </a:lnSpc>
              <a:buFont typeface="Arial"/>
              <a:buChar char="⚬"/>
            </a:pPr>
            <a:r>
              <a:rPr lang="en-US" sz="3000">
                <a:solidFill>
                  <a:srgbClr val="70531C"/>
                </a:solidFill>
                <a:latin typeface="Poppins"/>
                <a:ea typeface="Poppins"/>
                <a:cs typeface="Poppins"/>
                <a:sym typeface="Poppins"/>
              </a:rPr>
              <a:t>High Risk (7–10)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231484" y="3955081"/>
            <a:ext cx="7027816" cy="5303219"/>
          </a:xfrm>
          <a:custGeom>
            <a:avLst/>
            <a:gdLst/>
            <a:ahLst/>
            <a:cxnLst/>
            <a:rect l="l" t="t" r="r" b="b"/>
            <a:pathLst>
              <a:path w="7027816" h="5303219">
                <a:moveTo>
                  <a:pt x="0" y="0"/>
                </a:moveTo>
                <a:lnTo>
                  <a:pt x="7027816" y="0"/>
                </a:lnTo>
                <a:lnTo>
                  <a:pt x="7027816" y="5303219"/>
                </a:lnTo>
                <a:lnTo>
                  <a:pt x="0" y="5303219"/>
                </a:lnTo>
                <a:lnTo>
                  <a:pt x="0" y="0"/>
                </a:lnTo>
                <a:close/>
              </a:path>
            </a:pathLst>
          </a:custGeom>
          <a:blipFill>
            <a:blip r:embed="rId3"/>
            <a:stretch>
              <a:fillRect l="-9939" r="-9939"/>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Screen Time vs Academic Performance</a:t>
            </a:r>
          </a:p>
        </p:txBody>
      </p:sp>
      <p:sp>
        <p:nvSpPr>
          <p:cNvPr id="6" name="TextBox 6"/>
          <p:cNvSpPr txBox="1"/>
          <p:nvPr/>
        </p:nvSpPr>
        <p:spPr>
          <a:xfrm>
            <a:off x="1028700" y="4164481"/>
            <a:ext cx="13194897" cy="480821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CASE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&lt;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'LOW'</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FF9999"/>
                </a:solidFill>
                <a:latin typeface="Poppins"/>
                <a:ea typeface="Poppins"/>
                <a:cs typeface="Poppins"/>
                <a:sym typeface="Poppins"/>
              </a:rPr>
              <a:t> 5</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'MODERATE'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'HIGH'</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END 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Affects_Academic_Performance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Affects_Academic_Performance</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593013" y="8543610"/>
            <a:ext cx="15101974" cy="714690"/>
            <a:chOff x="0" y="0"/>
            <a:chExt cx="3977475" cy="188231"/>
          </a:xfrm>
        </p:grpSpPr>
        <p:sp>
          <p:nvSpPr>
            <p:cNvPr id="3" name="Freeform 3"/>
            <p:cNvSpPr/>
            <p:nvPr/>
          </p:nvSpPr>
          <p:spPr>
            <a:xfrm>
              <a:off x="0" y="0"/>
              <a:ext cx="3977475" cy="188231"/>
            </a:xfrm>
            <a:custGeom>
              <a:avLst/>
              <a:gdLst/>
              <a:ahLst/>
              <a:cxnLst/>
              <a:rect l="l" t="t" r="r" b="b"/>
              <a:pathLst>
                <a:path w="3977475" h="188231">
                  <a:moveTo>
                    <a:pt x="26145" y="0"/>
                  </a:moveTo>
                  <a:lnTo>
                    <a:pt x="3951330" y="0"/>
                  </a:lnTo>
                  <a:cubicBezTo>
                    <a:pt x="3965769" y="0"/>
                    <a:pt x="3977475" y="11705"/>
                    <a:pt x="3977475" y="26145"/>
                  </a:cubicBezTo>
                  <a:lnTo>
                    <a:pt x="3977475" y="162086"/>
                  </a:lnTo>
                  <a:cubicBezTo>
                    <a:pt x="3977475" y="169020"/>
                    <a:pt x="3974720" y="175670"/>
                    <a:pt x="3969817" y="180573"/>
                  </a:cubicBezTo>
                  <a:cubicBezTo>
                    <a:pt x="3964914" y="185476"/>
                    <a:pt x="3958264" y="188231"/>
                    <a:pt x="3951330" y="188231"/>
                  </a:cubicBezTo>
                  <a:lnTo>
                    <a:pt x="26145" y="188231"/>
                  </a:lnTo>
                  <a:cubicBezTo>
                    <a:pt x="11705" y="188231"/>
                    <a:pt x="0" y="176526"/>
                    <a:pt x="0" y="162086"/>
                  </a:cubicBezTo>
                  <a:lnTo>
                    <a:pt x="0" y="26145"/>
                  </a:lnTo>
                  <a:cubicBezTo>
                    <a:pt x="0" y="11705"/>
                    <a:pt x="11705" y="0"/>
                    <a:pt x="26145" y="0"/>
                  </a:cubicBezTo>
                  <a:close/>
                </a:path>
              </a:pathLst>
            </a:custGeom>
            <a:solidFill>
              <a:srgbClr val="70531C"/>
            </a:solidFill>
          </p:spPr>
        </p:sp>
        <p:sp>
          <p:nvSpPr>
            <p:cNvPr id="4" name="TextBox 4"/>
            <p:cNvSpPr txBox="1"/>
            <p:nvPr/>
          </p:nvSpPr>
          <p:spPr>
            <a:xfrm>
              <a:off x="0" y="-95250"/>
              <a:ext cx="3977475" cy="283481"/>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223978" y="4506393"/>
            <a:ext cx="11059036" cy="2857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with high daily usage show a very high likelihood of academic impact.</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Moderate usage shows mixed academic outcomes.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 usage students report minimal academic impact.</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779920" y="8619968"/>
            <a:ext cx="15055385" cy="466725"/>
          </a:xfrm>
          <a:prstGeom prst="rect">
            <a:avLst/>
          </a:prstGeom>
        </p:spPr>
        <p:txBody>
          <a:bodyPr lIns="0" tIns="0" rIns="0" bIns="0" rtlCol="0" anchor="t">
            <a:spAutoFit/>
          </a:bodyPr>
          <a:lstStyle/>
          <a:p>
            <a:pPr algn="l">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Excessive screen time is strongly associated with academic performance issues.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Screen Time vs Academic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1190432" y="4137386"/>
            <a:ext cx="6516263" cy="4835314"/>
          </a:xfrm>
          <a:custGeom>
            <a:avLst/>
            <a:gdLst/>
            <a:ahLst/>
            <a:cxnLst/>
            <a:rect l="l" t="t" r="r" b="b"/>
            <a:pathLst>
              <a:path w="6516263" h="4835314">
                <a:moveTo>
                  <a:pt x="0" y="0"/>
                </a:moveTo>
                <a:lnTo>
                  <a:pt x="6516263" y="0"/>
                </a:lnTo>
                <a:lnTo>
                  <a:pt x="6516263" y="4835314"/>
                </a:lnTo>
                <a:lnTo>
                  <a:pt x="0" y="4835314"/>
                </a:lnTo>
                <a:lnTo>
                  <a:pt x="0" y="0"/>
                </a:lnTo>
                <a:close/>
              </a:path>
            </a:pathLst>
          </a:custGeom>
          <a:blipFill>
            <a:blip r:embed="rId3"/>
            <a:stretch>
              <a:fillRect l="-13836" r="-8114"/>
            </a:stretch>
          </a:blipFill>
        </p:spPr>
      </p:sp>
      <p:sp>
        <p:nvSpPr>
          <p:cNvPr id="5" name="TextBox 5"/>
          <p:cNvSpPr txBox="1"/>
          <p:nvPr/>
        </p:nvSpPr>
        <p:spPr>
          <a:xfrm>
            <a:off x="3194627" y="704081"/>
            <a:ext cx="11753635" cy="118110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Screen Time vs Sleep</a:t>
            </a:r>
          </a:p>
        </p:txBody>
      </p:sp>
      <p:sp>
        <p:nvSpPr>
          <p:cNvPr id="6" name="TextBox 6"/>
          <p:cNvSpPr txBox="1"/>
          <p:nvPr/>
        </p:nvSpPr>
        <p:spPr>
          <a:xfrm>
            <a:off x="1028700" y="4164481"/>
            <a:ext cx="13194897" cy="480821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5170FF"/>
                </a:solidFill>
                <a:latin typeface="Poppins"/>
                <a:ea typeface="Poppins"/>
                <a:cs typeface="Poppins"/>
                <a:sym typeface="Poppins"/>
              </a:rPr>
              <a:t>  CASE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&lt;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A714E"/>
                </a:solidFill>
                <a:latin typeface="Poppins"/>
                <a:ea typeface="Poppins"/>
                <a:cs typeface="Poppins"/>
                <a:sym typeface="Poppins"/>
              </a:rPr>
              <a:t> 'LOW'</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5</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 </a:t>
            </a:r>
            <a:r>
              <a:rPr lang="en-US" sz="2300" dirty="0">
                <a:solidFill>
                  <a:srgbClr val="0A714E"/>
                </a:solidFill>
                <a:latin typeface="Poppins"/>
                <a:ea typeface="Poppins"/>
                <a:cs typeface="Poppins"/>
                <a:sym typeface="Poppins"/>
              </a:rPr>
              <a:t>'MODERATE'</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A714E"/>
                </a:solidFill>
                <a:latin typeface="Poppins"/>
                <a:ea typeface="Poppins"/>
                <a:cs typeface="Poppins"/>
                <a:sym typeface="Poppins"/>
              </a:rPr>
              <a:t> 'HIGH'</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 END</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Sleep_Hours_Per_Night</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avg_sleep_hours</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usage_level</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4144462" y="8622181"/>
            <a:ext cx="3562234"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(Screen Time, Sleep Hours)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733331" y="8489512"/>
            <a:ext cx="15101974" cy="1144171"/>
            <a:chOff x="0" y="0"/>
            <a:chExt cx="3977475" cy="301346"/>
          </a:xfrm>
        </p:grpSpPr>
        <p:sp>
          <p:nvSpPr>
            <p:cNvPr id="3" name="Freeform 3"/>
            <p:cNvSpPr/>
            <p:nvPr/>
          </p:nvSpPr>
          <p:spPr>
            <a:xfrm>
              <a:off x="0" y="0"/>
              <a:ext cx="3977475" cy="301346"/>
            </a:xfrm>
            <a:custGeom>
              <a:avLst/>
              <a:gdLst/>
              <a:ahLst/>
              <a:cxnLst/>
              <a:rect l="l" t="t" r="r" b="b"/>
              <a:pathLst>
                <a:path w="3977475" h="301346">
                  <a:moveTo>
                    <a:pt x="26145" y="0"/>
                  </a:moveTo>
                  <a:lnTo>
                    <a:pt x="3951330" y="0"/>
                  </a:lnTo>
                  <a:cubicBezTo>
                    <a:pt x="3965769" y="0"/>
                    <a:pt x="3977475" y="11705"/>
                    <a:pt x="3977475" y="26145"/>
                  </a:cubicBezTo>
                  <a:lnTo>
                    <a:pt x="3977475" y="275201"/>
                  </a:lnTo>
                  <a:cubicBezTo>
                    <a:pt x="3977475" y="282135"/>
                    <a:pt x="3974720" y="288785"/>
                    <a:pt x="3969817" y="293688"/>
                  </a:cubicBezTo>
                  <a:cubicBezTo>
                    <a:pt x="3964914" y="298591"/>
                    <a:pt x="3958264" y="301346"/>
                    <a:pt x="3951330" y="301346"/>
                  </a:cubicBezTo>
                  <a:lnTo>
                    <a:pt x="26145" y="301346"/>
                  </a:lnTo>
                  <a:cubicBezTo>
                    <a:pt x="11705" y="301346"/>
                    <a:pt x="0" y="289640"/>
                    <a:pt x="0" y="275201"/>
                  </a:cubicBezTo>
                  <a:lnTo>
                    <a:pt x="0" y="26145"/>
                  </a:lnTo>
                  <a:cubicBezTo>
                    <a:pt x="0" y="11705"/>
                    <a:pt x="11705" y="0"/>
                    <a:pt x="26145" y="0"/>
                  </a:cubicBezTo>
                  <a:close/>
                </a:path>
              </a:pathLst>
            </a:custGeom>
            <a:solidFill>
              <a:srgbClr val="70531C"/>
            </a:solidFill>
          </p:spPr>
        </p:sp>
        <p:sp>
          <p:nvSpPr>
            <p:cNvPr id="4" name="TextBox 4"/>
            <p:cNvSpPr txBox="1"/>
            <p:nvPr/>
          </p:nvSpPr>
          <p:spPr>
            <a:xfrm>
              <a:off x="0" y="-95250"/>
              <a:ext cx="397747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2998259" y="3400110"/>
            <a:ext cx="11979354" cy="5143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with high daily screen time sleep significantly less than others.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High usage students average less than 6 hours of sleep per night, indicating sleep deprivation.</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Moderate usage students maintain relatively healthier sleep durations.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 usage students show the highest average sleep, though sample size is limited.</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779920" y="8621921"/>
            <a:ext cx="15055385" cy="933450"/>
          </a:xfrm>
          <a:prstGeom prst="rect">
            <a:avLst/>
          </a:prstGeom>
        </p:spPr>
        <p:txBody>
          <a:bodyPr lIns="0" tIns="0" rIns="0" bIns="0" rtlCol="0" anchor="t">
            <a:spAutoFit/>
          </a:bodyPr>
          <a:lstStyle/>
          <a:p>
            <a:pPr algn="ctr">
              <a:lnSpc>
                <a:spcPts val="3749"/>
              </a:lnSpc>
            </a:pPr>
            <a:r>
              <a:rPr lang="en-US" sz="2499" b="1" dirty="0">
                <a:solidFill>
                  <a:srgbClr val="FFF8EF"/>
                </a:solidFill>
                <a:latin typeface="Poppins Bold"/>
                <a:ea typeface="Poppins Bold"/>
                <a:cs typeface="Poppins Bold"/>
                <a:sym typeface="Poppins Bold"/>
              </a:rPr>
              <a:t>Conclusion:</a:t>
            </a:r>
            <a:r>
              <a:rPr lang="en-US" sz="2499" dirty="0">
                <a:solidFill>
                  <a:srgbClr val="FFF8EF"/>
                </a:solidFill>
                <a:latin typeface="Poppins"/>
                <a:ea typeface="Poppins"/>
                <a:cs typeface="Poppins"/>
                <a:sym typeface="Poppins"/>
              </a:rPr>
              <a:t>  Increased screen time is strongly associated with reduced sleep duration, which may contribute to academic and mental health issues.</a:t>
            </a:r>
          </a:p>
        </p:txBody>
      </p:sp>
      <p:sp>
        <p:nvSpPr>
          <p:cNvPr id="9" name="TextBox 9"/>
          <p:cNvSpPr txBox="1"/>
          <p:nvPr/>
        </p:nvSpPr>
        <p:spPr>
          <a:xfrm>
            <a:off x="3223978" y="1225402"/>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Screen Time vs Sleep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617466" y="3748392"/>
            <a:ext cx="7212263" cy="6090471"/>
          </a:xfrm>
          <a:custGeom>
            <a:avLst/>
            <a:gdLst/>
            <a:ahLst/>
            <a:cxnLst/>
            <a:rect l="l" t="t" r="r" b="b"/>
            <a:pathLst>
              <a:path w="7212263" h="6090471">
                <a:moveTo>
                  <a:pt x="0" y="0"/>
                </a:moveTo>
                <a:lnTo>
                  <a:pt x="7212262" y="0"/>
                </a:lnTo>
                <a:lnTo>
                  <a:pt x="7212262" y="6090471"/>
                </a:lnTo>
                <a:lnTo>
                  <a:pt x="0" y="6090471"/>
                </a:lnTo>
                <a:lnTo>
                  <a:pt x="0" y="0"/>
                </a:lnTo>
                <a:close/>
              </a:path>
            </a:pathLst>
          </a:custGeom>
          <a:blipFill>
            <a:blip r:embed="rId3"/>
            <a:stretch>
              <a:fillRect l="-19063" r="-21679"/>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Addiction Score vs Mental Health</a:t>
            </a:r>
          </a:p>
        </p:txBody>
      </p:sp>
      <p:sp>
        <p:nvSpPr>
          <p:cNvPr id="6" name="TextBox 6"/>
          <p:cNvSpPr txBox="1"/>
          <p:nvPr/>
        </p:nvSpPr>
        <p:spPr>
          <a:xfrm>
            <a:off x="1028700" y="4164481"/>
            <a:ext cx="9367004" cy="52463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5170FF"/>
                </a:solidFill>
                <a:latin typeface="Poppins"/>
                <a:ea typeface="Poppins"/>
                <a:cs typeface="Poppins"/>
                <a:sym typeface="Poppins"/>
              </a:rPr>
              <a:t>  CASE</a:t>
            </a:r>
          </a:p>
          <a:p>
            <a:pPr algn="just">
              <a:lnSpc>
                <a:spcPts val="3450"/>
              </a:lnSpc>
            </a:pPr>
            <a:r>
              <a:rPr lang="en-US" sz="2300" dirty="0">
                <a:solidFill>
                  <a:srgbClr val="5170FF"/>
                </a:solidFill>
                <a:latin typeface="Poppins"/>
                <a:ea typeface="Poppins"/>
                <a:cs typeface="Poppins"/>
                <a:sym typeface="Poppins"/>
              </a:rPr>
              <a:t>    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&lt;=</a:t>
            </a:r>
            <a:r>
              <a:rPr lang="en-US" sz="2300" dirty="0">
                <a:solidFill>
                  <a:srgbClr val="FF9999"/>
                </a:solidFill>
                <a:latin typeface="Poppins"/>
                <a:ea typeface="Poppins"/>
                <a:cs typeface="Poppins"/>
                <a:sym typeface="Poppins"/>
              </a:rPr>
              <a:t> 3</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'LOW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4</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6</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A714E"/>
                </a:solidFill>
                <a:latin typeface="Poppins"/>
                <a:ea typeface="Poppins"/>
                <a:cs typeface="Poppins"/>
                <a:sym typeface="Poppins"/>
              </a:rPr>
              <a:t> 'MEDIUM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A714E"/>
                </a:solidFill>
                <a:latin typeface="Poppins"/>
                <a:ea typeface="Poppins"/>
                <a:cs typeface="Poppins"/>
                <a:sym typeface="Poppins"/>
              </a:rPr>
              <a:t> 'HIGH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END 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Mental_Health_Score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avg_mental_health</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3025669" y="8529607"/>
            <a:ext cx="4804059"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(Addiction Score, Avg. Mental Health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593013" y="8543610"/>
            <a:ext cx="15101974" cy="1144171"/>
            <a:chOff x="0" y="0"/>
            <a:chExt cx="3977475" cy="301346"/>
          </a:xfrm>
        </p:grpSpPr>
        <p:sp>
          <p:nvSpPr>
            <p:cNvPr id="3" name="Freeform 3"/>
            <p:cNvSpPr/>
            <p:nvPr/>
          </p:nvSpPr>
          <p:spPr>
            <a:xfrm>
              <a:off x="0" y="0"/>
              <a:ext cx="3977475" cy="301346"/>
            </a:xfrm>
            <a:custGeom>
              <a:avLst/>
              <a:gdLst/>
              <a:ahLst/>
              <a:cxnLst/>
              <a:rect l="l" t="t" r="r" b="b"/>
              <a:pathLst>
                <a:path w="3977475" h="301346">
                  <a:moveTo>
                    <a:pt x="26145" y="0"/>
                  </a:moveTo>
                  <a:lnTo>
                    <a:pt x="3951330" y="0"/>
                  </a:lnTo>
                  <a:cubicBezTo>
                    <a:pt x="3965769" y="0"/>
                    <a:pt x="3977475" y="11705"/>
                    <a:pt x="3977475" y="26145"/>
                  </a:cubicBezTo>
                  <a:lnTo>
                    <a:pt x="3977475" y="275201"/>
                  </a:lnTo>
                  <a:cubicBezTo>
                    <a:pt x="3977475" y="282135"/>
                    <a:pt x="3974720" y="288785"/>
                    <a:pt x="3969817" y="293688"/>
                  </a:cubicBezTo>
                  <a:cubicBezTo>
                    <a:pt x="3964914" y="298591"/>
                    <a:pt x="3958264" y="301346"/>
                    <a:pt x="3951330" y="301346"/>
                  </a:cubicBezTo>
                  <a:lnTo>
                    <a:pt x="26145" y="301346"/>
                  </a:lnTo>
                  <a:cubicBezTo>
                    <a:pt x="11705" y="301346"/>
                    <a:pt x="0" y="289640"/>
                    <a:pt x="0" y="275201"/>
                  </a:cubicBezTo>
                  <a:lnTo>
                    <a:pt x="0" y="26145"/>
                  </a:lnTo>
                  <a:cubicBezTo>
                    <a:pt x="0" y="11705"/>
                    <a:pt x="11705" y="0"/>
                    <a:pt x="26145" y="0"/>
                  </a:cubicBezTo>
                  <a:close/>
                </a:path>
              </a:pathLst>
            </a:custGeom>
            <a:solidFill>
              <a:srgbClr val="70531C"/>
            </a:solidFill>
          </p:spPr>
        </p:sp>
        <p:sp>
          <p:nvSpPr>
            <p:cNvPr id="4" name="TextBox 4"/>
            <p:cNvSpPr txBox="1"/>
            <p:nvPr/>
          </p:nvSpPr>
          <p:spPr>
            <a:xfrm>
              <a:off x="0" y="-95250"/>
              <a:ext cx="397747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3751031"/>
            <a:ext cx="11979354" cy="4572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with high addiction risk report the lowest average mental health scores.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Mental health improves consistently as addiction risk decreases from high to low.</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This pattern indicates a strong negative relationship between social media addiction and psychological well-being.</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Higher levels of social media addiction are associated with poorer mental health outcomes among students.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Addiction Score vs Mental Health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976117" y="3784148"/>
            <a:ext cx="6723898" cy="5290088"/>
          </a:xfrm>
          <a:custGeom>
            <a:avLst/>
            <a:gdLst/>
            <a:ahLst/>
            <a:cxnLst/>
            <a:rect l="l" t="t" r="r" b="b"/>
            <a:pathLst>
              <a:path w="6723898" h="5290088">
                <a:moveTo>
                  <a:pt x="0" y="0"/>
                </a:moveTo>
                <a:lnTo>
                  <a:pt x="6723897" y="0"/>
                </a:lnTo>
                <a:lnTo>
                  <a:pt x="6723897" y="5290088"/>
                </a:lnTo>
                <a:lnTo>
                  <a:pt x="0" y="5290088"/>
                </a:lnTo>
                <a:lnTo>
                  <a:pt x="0" y="0"/>
                </a:lnTo>
                <a:close/>
              </a:path>
            </a:pathLst>
          </a:custGeom>
          <a:blipFill>
            <a:blip r:embed="rId3"/>
            <a:stretch>
              <a:fillRect l="-20347" r="-19149" b="-6572"/>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Addiction vs Social Conflicts</a:t>
            </a:r>
          </a:p>
        </p:txBody>
      </p:sp>
      <p:sp>
        <p:nvSpPr>
          <p:cNvPr id="6" name="TextBox 6"/>
          <p:cNvSpPr txBox="1"/>
          <p:nvPr/>
        </p:nvSpPr>
        <p:spPr>
          <a:xfrm>
            <a:off x="1028700" y="4164481"/>
            <a:ext cx="9587270" cy="52463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5170FF"/>
                </a:solidFill>
                <a:latin typeface="Poppins"/>
                <a:ea typeface="Poppins"/>
                <a:cs typeface="Poppins"/>
                <a:sym typeface="Poppins"/>
              </a:rPr>
              <a:t>  CASE</a:t>
            </a:r>
          </a:p>
          <a:p>
            <a:pPr algn="just">
              <a:lnSpc>
                <a:spcPts val="3450"/>
              </a:lnSpc>
            </a:pPr>
            <a:r>
              <a:rPr lang="en-US" sz="2300" dirty="0">
                <a:solidFill>
                  <a:srgbClr val="5170FF"/>
                </a:solidFill>
                <a:latin typeface="Poppins"/>
                <a:ea typeface="Poppins"/>
                <a:cs typeface="Poppins"/>
                <a:sym typeface="Poppins"/>
              </a:rPr>
              <a:t>    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&lt;= </a:t>
            </a:r>
            <a:r>
              <a:rPr lang="en-US" sz="2300" dirty="0">
                <a:solidFill>
                  <a:srgbClr val="FF9999"/>
                </a:solidFill>
                <a:latin typeface="Poppins"/>
                <a:ea typeface="Poppins"/>
                <a:cs typeface="Poppins"/>
                <a:sym typeface="Poppins"/>
              </a:rPr>
              <a:t>3</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'LOW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WHEN</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BETWEEN</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4</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AND</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6</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THEN</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'MEDIUM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ELSE</a:t>
            </a:r>
            <a:r>
              <a:rPr lang="en-US" sz="2300" dirty="0">
                <a:solidFill>
                  <a:srgbClr val="000000"/>
                </a:solidFill>
                <a:latin typeface="Poppins"/>
                <a:ea typeface="Poppins"/>
                <a:cs typeface="Poppins"/>
                <a:sym typeface="Poppins"/>
              </a:rPr>
              <a:t> </a:t>
            </a:r>
            <a:r>
              <a:rPr lang="en-US" sz="2300" dirty="0">
                <a:solidFill>
                  <a:srgbClr val="0A714E"/>
                </a:solidFill>
                <a:latin typeface="Poppins"/>
                <a:ea typeface="Poppins"/>
                <a:cs typeface="Poppins"/>
                <a:sym typeface="Poppins"/>
              </a:rPr>
              <a:t>'HIGH RISK'</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END</a:t>
            </a:r>
            <a:r>
              <a:rPr lang="en-US" sz="2300" dirty="0">
                <a:solidFill>
                  <a:srgbClr val="000000"/>
                </a:solidFill>
                <a:latin typeface="Poppins"/>
                <a:ea typeface="Poppins"/>
                <a:cs typeface="Poppins"/>
                <a:sym typeface="Poppins"/>
              </a:rPr>
              <a:t> AS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Conflicts_Over_Social_Media</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avg_conflicts</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 </a:t>
            </a:r>
            <a:r>
              <a:rPr lang="en-US" sz="2300" dirty="0" err="1">
                <a:solidFill>
                  <a:srgbClr val="000000"/>
                </a:solidFill>
                <a:latin typeface="Poppins"/>
                <a:ea typeface="Poppins"/>
                <a:cs typeface="Poppins"/>
                <a:sym typeface="Poppins"/>
              </a:rPr>
              <a:t>addiction_risk</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addiction_risk</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2895955" y="8998036"/>
            <a:ext cx="4804059"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(Addiction Score, Avg. Social Conflict)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4036781"/>
            <a:ext cx="11979354"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Average social media–related conflicts increase steadily with addiction severity.</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Students in the high addiction risk group experience the highest level of conflicts.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 addiction levels are associated with minimal social conflicts.</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 </a:t>
            </a:r>
            <a:r>
              <a:rPr lang="en-US" sz="2499">
                <a:solidFill>
                  <a:srgbClr val="FFF8EF"/>
                </a:solidFill>
                <a:latin typeface="Poppins"/>
                <a:ea typeface="Poppins"/>
                <a:cs typeface="Poppins"/>
                <a:sym typeface="Poppins"/>
              </a:rPr>
              <a:t> Higher social media addiction is strongly associated with increased interpersonal and social conflicts.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Addiction vs Social Conflicts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9289078" y="3846372"/>
            <a:ext cx="8566278" cy="5076386"/>
          </a:xfrm>
          <a:custGeom>
            <a:avLst/>
            <a:gdLst/>
            <a:ahLst/>
            <a:cxnLst/>
            <a:rect l="l" t="t" r="r" b="b"/>
            <a:pathLst>
              <a:path w="8566278" h="5076386">
                <a:moveTo>
                  <a:pt x="0" y="0"/>
                </a:moveTo>
                <a:lnTo>
                  <a:pt x="8566278" y="0"/>
                </a:lnTo>
                <a:lnTo>
                  <a:pt x="8566278" y="5076387"/>
                </a:lnTo>
                <a:lnTo>
                  <a:pt x="0" y="5076387"/>
                </a:lnTo>
                <a:lnTo>
                  <a:pt x="0" y="0"/>
                </a:lnTo>
                <a:close/>
              </a:path>
            </a:pathLst>
          </a:custGeom>
          <a:blipFill>
            <a:blip r:embed="rId3"/>
            <a:stretch>
              <a:fillRect l="-5749" r="-6776" b="-4911"/>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Platform-Wise Addiction Pattern</a:t>
            </a:r>
          </a:p>
        </p:txBody>
      </p:sp>
      <p:sp>
        <p:nvSpPr>
          <p:cNvPr id="6" name="TextBox 6"/>
          <p:cNvSpPr txBox="1"/>
          <p:nvPr/>
        </p:nvSpPr>
        <p:spPr>
          <a:xfrm>
            <a:off x="1028700" y="4164481"/>
            <a:ext cx="8763000" cy="34937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Most_Used_Platform</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a:t>
            </a:r>
            <a:r>
              <a:rPr lang="en-US" sz="2300" dirty="0">
                <a:solidFill>
                  <a:srgbClr val="FF9999"/>
                </a:solidFill>
                <a:latin typeface="Poppins"/>
                <a:ea typeface="Poppins"/>
                <a:cs typeface="Poppins"/>
                <a:sym typeface="Poppins"/>
              </a:rPr>
              <a:t> 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Most_Used_Platform</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DESC</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3366340" y="8846559"/>
            <a:ext cx="4088256"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(Platform, Avg. Addiction Score)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4036781"/>
            <a:ext cx="11979354" cy="34290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Addiction levels vary significantly across platforms.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Certain platforms show consistently higher average addiction scores.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This suggests that platform-specific engagement patterns influence addictive behavior.</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Not all social media platforms contribute equally to digital addiction; some pose a higher addiction risk than others.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Platform-Wise Addiction Pattern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10770020" y="3657912"/>
            <a:ext cx="7051434" cy="5264847"/>
          </a:xfrm>
          <a:custGeom>
            <a:avLst/>
            <a:gdLst/>
            <a:ahLst/>
            <a:cxnLst/>
            <a:rect l="l" t="t" r="r" b="b"/>
            <a:pathLst>
              <a:path w="7051434" h="5264847">
                <a:moveTo>
                  <a:pt x="0" y="0"/>
                </a:moveTo>
                <a:lnTo>
                  <a:pt x="7051434" y="0"/>
                </a:lnTo>
                <a:lnTo>
                  <a:pt x="7051434" y="5264847"/>
                </a:lnTo>
                <a:lnTo>
                  <a:pt x="0" y="5264847"/>
                </a:lnTo>
                <a:lnTo>
                  <a:pt x="0" y="0"/>
                </a:lnTo>
                <a:close/>
              </a:path>
            </a:pathLst>
          </a:custGeom>
          <a:blipFill>
            <a:blip r:embed="rId3"/>
            <a:stretch>
              <a:fillRect l="-12361" r="-58407" b="-5210"/>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a:solidFill>
                  <a:srgbClr val="533800"/>
                </a:solidFill>
                <a:latin typeface="Montserrat Bold"/>
                <a:ea typeface="Montserrat Bold"/>
                <a:cs typeface="Montserrat Bold"/>
                <a:sym typeface="Montserrat Bold"/>
              </a:rPr>
              <a:t>Gender vs Addiction &amp; Usage</a:t>
            </a:r>
          </a:p>
        </p:txBody>
      </p:sp>
      <p:sp>
        <p:nvSpPr>
          <p:cNvPr id="6" name="TextBox 6"/>
          <p:cNvSpPr txBox="1"/>
          <p:nvPr/>
        </p:nvSpPr>
        <p:spPr>
          <a:xfrm>
            <a:off x="1028700" y="4164481"/>
            <a:ext cx="9491186" cy="34937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Gender,</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Avg_Daily_Usage_Hours</a:t>
            </a:r>
            <a:r>
              <a:rPr lang="en-US" sz="2300" dirty="0">
                <a:solidFill>
                  <a:srgbClr val="000000"/>
                </a:solidFill>
                <a:latin typeface="Poppins"/>
                <a:ea typeface="Poppins"/>
                <a:cs typeface="Poppins"/>
                <a:sym typeface="Poppins"/>
              </a:rPr>
              <a:t>),</a:t>
            </a:r>
            <a:r>
              <a:rPr lang="en-US" sz="2300" dirty="0">
                <a:solidFill>
                  <a:srgbClr val="FF9999"/>
                </a:solidFill>
                <a:latin typeface="Poppins"/>
                <a:ea typeface="Poppins"/>
                <a:cs typeface="Poppins"/>
                <a:sym typeface="Poppins"/>
              </a:rPr>
              <a:t> 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avg_daily_usage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Gender;</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1423446" y="8846559"/>
            <a:ext cx="6031150"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(Gender, Avg. Screen TIme, Avg. Addiction Score)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11118" y="4036781"/>
            <a:ext cx="11979354"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Gender-wise differences in screen time and addiction are present but not extreme.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Both genders exhibit comparable addiction levels, indicating a broader behavioral issue.</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Addiction appears to be influenced more by usage patterns than gender alone.</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 </a:t>
            </a:r>
            <a:r>
              <a:rPr lang="en-US" sz="2499">
                <a:solidFill>
                  <a:srgbClr val="FFF8EF"/>
                </a:solidFill>
                <a:latin typeface="Poppins"/>
                <a:ea typeface="Poppins"/>
                <a:cs typeface="Poppins"/>
                <a:sym typeface="Poppins"/>
              </a:rPr>
              <a:t>Digital addiction is a cross-gender concern, not limited to a specific demographic group.</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Gender vs Addiction &amp; Usage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Freeform 4"/>
          <p:cNvSpPr/>
          <p:nvPr/>
        </p:nvSpPr>
        <p:spPr>
          <a:xfrm>
            <a:off x="7395771" y="3212126"/>
            <a:ext cx="10544553" cy="5710632"/>
          </a:xfrm>
          <a:custGeom>
            <a:avLst/>
            <a:gdLst/>
            <a:ahLst/>
            <a:cxnLst/>
            <a:rect l="l" t="t" r="r" b="b"/>
            <a:pathLst>
              <a:path w="10544553" h="5710632">
                <a:moveTo>
                  <a:pt x="0" y="0"/>
                </a:moveTo>
                <a:lnTo>
                  <a:pt x="10544553" y="0"/>
                </a:lnTo>
                <a:lnTo>
                  <a:pt x="10544553" y="5710633"/>
                </a:lnTo>
                <a:lnTo>
                  <a:pt x="0" y="5710633"/>
                </a:lnTo>
                <a:lnTo>
                  <a:pt x="0" y="0"/>
                </a:lnTo>
                <a:close/>
              </a:path>
            </a:pathLst>
          </a:custGeom>
          <a:blipFill>
            <a:blip r:embed="rId3"/>
            <a:stretch>
              <a:fillRect l="-4460" r="-2715" b="-5875"/>
            </a:stretch>
          </a:blipFill>
        </p:spPr>
      </p:sp>
      <p:sp>
        <p:nvSpPr>
          <p:cNvPr id="5" name="TextBox 5"/>
          <p:cNvSpPr txBox="1"/>
          <p:nvPr/>
        </p:nvSpPr>
        <p:spPr>
          <a:xfrm>
            <a:off x="3194627" y="704081"/>
            <a:ext cx="11753635" cy="2419350"/>
          </a:xfrm>
          <a:prstGeom prst="rect">
            <a:avLst/>
          </a:prstGeom>
        </p:spPr>
        <p:txBody>
          <a:bodyPr lIns="0" tIns="0" rIns="0" bIns="0" rtlCol="0" anchor="t">
            <a:spAutoFit/>
          </a:bodyPr>
          <a:lstStyle/>
          <a:p>
            <a:pPr algn="ctr">
              <a:lnSpc>
                <a:spcPts val="9750"/>
              </a:lnSpc>
            </a:pPr>
            <a:r>
              <a:rPr lang="en-US" sz="6500" b="1" dirty="0" err="1">
                <a:solidFill>
                  <a:srgbClr val="533800"/>
                </a:solidFill>
                <a:latin typeface="Montserrat Bold"/>
                <a:ea typeface="Montserrat Bold"/>
                <a:cs typeface="Montserrat Bold"/>
                <a:sym typeface="Montserrat Bold"/>
              </a:rPr>
              <a:t>Contry</a:t>
            </a:r>
            <a:r>
              <a:rPr lang="en-US" sz="6500" b="1" dirty="0">
                <a:solidFill>
                  <a:srgbClr val="533800"/>
                </a:solidFill>
                <a:latin typeface="Montserrat Bold"/>
                <a:ea typeface="Montserrat Bold"/>
                <a:cs typeface="Montserrat Bold"/>
                <a:sym typeface="Montserrat Bold"/>
              </a:rPr>
              <a:t>-Wise Addiction Pattern</a:t>
            </a:r>
          </a:p>
        </p:txBody>
      </p:sp>
      <p:sp>
        <p:nvSpPr>
          <p:cNvPr id="6" name="TextBox 6"/>
          <p:cNvSpPr txBox="1"/>
          <p:nvPr/>
        </p:nvSpPr>
        <p:spPr>
          <a:xfrm>
            <a:off x="1028700" y="4164481"/>
            <a:ext cx="5542359" cy="4370069"/>
          </a:xfrm>
          <a:prstGeom prst="rect">
            <a:avLst/>
          </a:prstGeom>
        </p:spPr>
        <p:txBody>
          <a:bodyPr lIns="0" tIns="0" rIns="0" bIns="0" rtlCol="0" anchor="t">
            <a:spAutoFit/>
          </a:bodyPr>
          <a:lstStyle/>
          <a:p>
            <a:pPr algn="just">
              <a:lnSpc>
                <a:spcPts val="3450"/>
              </a:lnSpc>
            </a:pPr>
            <a:r>
              <a:rPr lang="en-US" sz="2300" dirty="0">
                <a:solidFill>
                  <a:srgbClr val="5170FF"/>
                </a:solidFill>
                <a:latin typeface="Poppins"/>
                <a:ea typeface="Poppins"/>
                <a:cs typeface="Poppins"/>
                <a:sym typeface="Poppins"/>
              </a:rPr>
              <a:t>SELECT</a:t>
            </a:r>
          </a:p>
          <a:p>
            <a:pPr algn="just">
              <a:lnSpc>
                <a:spcPts val="3450"/>
              </a:lnSpc>
            </a:pPr>
            <a:r>
              <a:rPr lang="en-US" sz="2300" dirty="0">
                <a:solidFill>
                  <a:srgbClr val="000000"/>
                </a:solidFill>
                <a:latin typeface="Poppins"/>
                <a:ea typeface="Poppins"/>
                <a:cs typeface="Poppins"/>
                <a:sym typeface="Poppins"/>
              </a:rPr>
              <a:t>  Country,</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ROUND</a:t>
            </a:r>
            <a:r>
              <a:rPr lang="en-US" sz="2300" dirty="0">
                <a:solidFill>
                  <a:srgbClr val="000000"/>
                </a:solidFill>
                <a:latin typeface="Poppins"/>
                <a:ea typeface="Poppins"/>
                <a:cs typeface="Poppins"/>
                <a:sym typeface="Poppins"/>
              </a:rPr>
              <a:t>(</a:t>
            </a:r>
            <a:r>
              <a:rPr lang="en-US" sz="2300" dirty="0">
                <a:solidFill>
                  <a:srgbClr val="545454"/>
                </a:solidFill>
                <a:latin typeface="Poppins"/>
                <a:ea typeface="Poppins"/>
                <a:cs typeface="Poppins"/>
                <a:sym typeface="Poppins"/>
              </a:rPr>
              <a:t>AVG</a:t>
            </a:r>
            <a:r>
              <a:rPr lang="en-US" sz="2300" dirty="0">
                <a:solidFill>
                  <a:srgbClr val="000000"/>
                </a:solidFill>
                <a:latin typeface="Poppins"/>
                <a:ea typeface="Poppins"/>
                <a:cs typeface="Poppins"/>
                <a:sym typeface="Poppins"/>
              </a:rPr>
              <a:t>(</a:t>
            </a:r>
            <a:r>
              <a:rPr lang="en-US" sz="2300" dirty="0" err="1">
                <a:solidFill>
                  <a:srgbClr val="000000"/>
                </a:solidFill>
                <a:latin typeface="Poppins"/>
                <a:ea typeface="Poppins"/>
                <a:cs typeface="Poppins"/>
                <a:sym typeface="Poppins"/>
              </a:rPr>
              <a:t>Addicted_Score</a:t>
            </a:r>
            <a:r>
              <a:rPr lang="en-US" sz="2300" dirty="0">
                <a:solidFill>
                  <a:srgbClr val="000000"/>
                </a:solidFill>
                <a:latin typeface="Poppins"/>
                <a:ea typeface="Poppins"/>
                <a:cs typeface="Poppins"/>
                <a:sym typeface="Poppins"/>
              </a:rPr>
              <a:t>), </a:t>
            </a:r>
            <a:r>
              <a:rPr lang="en-US" sz="2300" dirty="0">
                <a:solidFill>
                  <a:srgbClr val="FF9999"/>
                </a:solidFill>
                <a:latin typeface="Poppins"/>
                <a:ea typeface="Poppins"/>
                <a:cs typeface="Poppins"/>
                <a:sym typeface="Poppins"/>
              </a:rPr>
              <a:t>2</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p>
          <a:p>
            <a:pPr algn="just">
              <a:lnSpc>
                <a:spcPts val="3450"/>
              </a:lnSpc>
            </a:pP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a:t>
            </a:r>
          </a:p>
          <a:p>
            <a:pPr algn="just">
              <a:lnSpc>
                <a:spcPts val="3450"/>
              </a:lnSpc>
            </a:pPr>
            <a:r>
              <a:rPr lang="en-US" sz="2300" dirty="0">
                <a:solidFill>
                  <a:srgbClr val="000000"/>
                </a:solidFill>
                <a:latin typeface="Poppins"/>
                <a:ea typeface="Poppins"/>
                <a:cs typeface="Poppins"/>
                <a:sym typeface="Poppins"/>
              </a:rPr>
              <a:t>  </a:t>
            </a:r>
            <a:r>
              <a:rPr lang="en-US" sz="2300" dirty="0">
                <a:solidFill>
                  <a:srgbClr val="545454"/>
                </a:solidFill>
                <a:latin typeface="Poppins"/>
                <a:ea typeface="Poppins"/>
                <a:cs typeface="Poppins"/>
                <a:sym typeface="Poppins"/>
              </a:rPr>
              <a:t>COUNT</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AS</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student_count</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FROM</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students_addiction</a:t>
            </a:r>
            <a:endParaRPr lang="en-US" sz="2300" dirty="0">
              <a:solidFill>
                <a:srgbClr val="000000"/>
              </a:solidFill>
              <a:latin typeface="Poppins"/>
              <a:ea typeface="Poppins"/>
              <a:cs typeface="Poppins"/>
              <a:sym typeface="Poppins"/>
            </a:endParaRPr>
          </a:p>
          <a:p>
            <a:pPr algn="just">
              <a:lnSpc>
                <a:spcPts val="3450"/>
              </a:lnSpc>
            </a:pPr>
            <a:r>
              <a:rPr lang="en-US" sz="2300" dirty="0">
                <a:solidFill>
                  <a:srgbClr val="5170FF"/>
                </a:solidFill>
                <a:latin typeface="Poppins"/>
                <a:ea typeface="Poppins"/>
                <a:cs typeface="Poppins"/>
                <a:sym typeface="Poppins"/>
              </a:rPr>
              <a:t>GROUP BY</a:t>
            </a:r>
            <a:r>
              <a:rPr lang="en-US" sz="2300" dirty="0">
                <a:solidFill>
                  <a:srgbClr val="000000"/>
                </a:solidFill>
                <a:latin typeface="Poppins"/>
                <a:ea typeface="Poppins"/>
                <a:cs typeface="Poppins"/>
                <a:sym typeface="Poppins"/>
              </a:rPr>
              <a:t> Country</a:t>
            </a:r>
          </a:p>
          <a:p>
            <a:pPr algn="just">
              <a:lnSpc>
                <a:spcPts val="3450"/>
              </a:lnSpc>
            </a:pPr>
            <a:r>
              <a:rPr lang="en-US" sz="2300" dirty="0">
                <a:solidFill>
                  <a:srgbClr val="5170FF"/>
                </a:solidFill>
                <a:latin typeface="Poppins"/>
                <a:ea typeface="Poppins"/>
                <a:cs typeface="Poppins"/>
                <a:sym typeface="Poppins"/>
              </a:rPr>
              <a:t>HAVING COUNT</a:t>
            </a:r>
            <a:r>
              <a:rPr lang="en-US" sz="2300" dirty="0">
                <a:solidFill>
                  <a:srgbClr val="000000"/>
                </a:solidFill>
                <a:latin typeface="Poppins"/>
                <a:ea typeface="Poppins"/>
                <a:cs typeface="Poppins"/>
                <a:sym typeface="Poppins"/>
              </a:rPr>
              <a:t>(*) &gt;= </a:t>
            </a:r>
            <a:r>
              <a:rPr lang="en-US" sz="2300" dirty="0">
                <a:solidFill>
                  <a:srgbClr val="FF9999"/>
                </a:solidFill>
                <a:latin typeface="Poppins"/>
                <a:ea typeface="Poppins"/>
                <a:cs typeface="Poppins"/>
                <a:sym typeface="Poppins"/>
              </a:rPr>
              <a:t>10</a:t>
            </a:r>
          </a:p>
          <a:p>
            <a:pPr algn="just">
              <a:lnSpc>
                <a:spcPts val="3450"/>
              </a:lnSpc>
            </a:pPr>
            <a:r>
              <a:rPr lang="en-US" sz="2300" dirty="0">
                <a:solidFill>
                  <a:srgbClr val="5170FF"/>
                </a:solidFill>
                <a:latin typeface="Poppins"/>
                <a:ea typeface="Poppins"/>
                <a:cs typeface="Poppins"/>
                <a:sym typeface="Poppins"/>
              </a:rPr>
              <a:t>ORDER BY</a:t>
            </a:r>
            <a:r>
              <a:rPr lang="en-US" sz="2300" dirty="0">
                <a:solidFill>
                  <a:srgbClr val="000000"/>
                </a:solidFill>
                <a:latin typeface="Poppins"/>
                <a:ea typeface="Poppins"/>
                <a:cs typeface="Poppins"/>
                <a:sym typeface="Poppins"/>
              </a:rPr>
              <a:t> </a:t>
            </a:r>
            <a:r>
              <a:rPr lang="en-US" sz="2300" dirty="0" err="1">
                <a:solidFill>
                  <a:srgbClr val="000000"/>
                </a:solidFill>
                <a:latin typeface="Poppins"/>
                <a:ea typeface="Poppins"/>
                <a:cs typeface="Poppins"/>
                <a:sym typeface="Poppins"/>
              </a:rPr>
              <a:t>avg_addiction_score</a:t>
            </a:r>
            <a:r>
              <a:rPr lang="en-US" sz="2300" dirty="0">
                <a:solidFill>
                  <a:srgbClr val="000000"/>
                </a:solidFill>
                <a:latin typeface="Poppins"/>
                <a:ea typeface="Poppins"/>
                <a:cs typeface="Poppins"/>
                <a:sym typeface="Poppins"/>
              </a:rPr>
              <a:t> </a:t>
            </a:r>
            <a:r>
              <a:rPr lang="en-US" sz="2300" dirty="0">
                <a:solidFill>
                  <a:srgbClr val="5170FF"/>
                </a:solidFill>
                <a:latin typeface="Poppins"/>
                <a:ea typeface="Poppins"/>
                <a:cs typeface="Poppins"/>
                <a:sym typeface="Poppins"/>
              </a:rPr>
              <a:t>DESC</a:t>
            </a:r>
            <a:r>
              <a:rPr lang="en-US" sz="2300" dirty="0">
                <a:solidFill>
                  <a:srgbClr val="000000"/>
                </a:solidFill>
                <a:latin typeface="Poppins"/>
                <a:ea typeface="Poppins"/>
                <a:cs typeface="Poppins"/>
                <a:sym typeface="Poppins"/>
              </a:rPr>
              <a:t>;</a:t>
            </a:r>
          </a:p>
          <a:p>
            <a:pPr algn="just">
              <a:lnSpc>
                <a:spcPts val="3450"/>
              </a:lnSpc>
            </a:pPr>
            <a:endParaRPr lang="en-US" sz="2300" dirty="0">
              <a:solidFill>
                <a:srgbClr val="000000"/>
              </a:solidFill>
              <a:latin typeface="Poppins"/>
              <a:ea typeface="Poppins"/>
              <a:cs typeface="Poppins"/>
              <a:sym typeface="Poppins"/>
            </a:endParaRPr>
          </a:p>
        </p:txBody>
      </p:sp>
      <p:sp>
        <p:nvSpPr>
          <p:cNvPr id="7" name="TextBox 7"/>
          <p:cNvSpPr txBox="1"/>
          <p:nvPr/>
        </p:nvSpPr>
        <p:spPr>
          <a:xfrm>
            <a:off x="13632210" y="8846559"/>
            <a:ext cx="4026901" cy="350519"/>
          </a:xfrm>
          <a:prstGeom prst="rect">
            <a:avLst/>
          </a:prstGeom>
        </p:spPr>
        <p:txBody>
          <a:bodyPr lIns="0" tIns="0" rIns="0" bIns="0" rtlCol="0" anchor="t">
            <a:spAutoFit/>
          </a:bodyPr>
          <a:lstStyle/>
          <a:p>
            <a:pPr algn="l">
              <a:lnSpc>
                <a:spcPts val="2700"/>
              </a:lnSpc>
            </a:pPr>
            <a:r>
              <a:rPr lang="en-US" sz="1800">
                <a:solidFill>
                  <a:srgbClr val="000000"/>
                </a:solidFill>
                <a:latin typeface="Poppins"/>
                <a:ea typeface="Poppins"/>
                <a:cs typeface="Poppins"/>
                <a:sym typeface="Poppins"/>
              </a:rPr>
              <a:t>(Country,Avg. Addiction Score)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grpSp>
        <p:nvGrpSpPr>
          <p:cNvPr id="2" name="Group 2"/>
          <p:cNvGrpSpPr/>
          <p:nvPr/>
        </p:nvGrpSpPr>
        <p:grpSpPr>
          <a:xfrm>
            <a:off x="1449852" y="8543610"/>
            <a:ext cx="15326941" cy="1144171"/>
            <a:chOff x="0" y="0"/>
            <a:chExt cx="4036725" cy="301346"/>
          </a:xfrm>
        </p:grpSpPr>
        <p:sp>
          <p:nvSpPr>
            <p:cNvPr id="3" name="Freeform 3"/>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4" name="TextBox 4"/>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5" name="Freeform 5"/>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6" name="Freeform 6"/>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7" name="TextBox 7"/>
          <p:cNvSpPr txBox="1"/>
          <p:nvPr/>
        </p:nvSpPr>
        <p:spPr>
          <a:xfrm>
            <a:off x="3131028" y="4036781"/>
            <a:ext cx="11979354" cy="4000500"/>
          </a:xfrm>
          <a:prstGeom prst="rect">
            <a:avLst/>
          </a:prstGeom>
        </p:spPr>
        <p:txBody>
          <a:bodyPr lIns="0" tIns="0" rIns="0" bIns="0" rtlCol="0" anchor="t">
            <a:spAutoFit/>
          </a:bodyPr>
          <a:lstStyle/>
          <a:p>
            <a:pPr marL="647700" lvl="1" indent="-323850" algn="just">
              <a:lnSpc>
                <a:spcPts val="4500"/>
              </a:lnSpc>
              <a:buFont typeface="Arial"/>
              <a:buChar char="•"/>
            </a:pPr>
            <a:r>
              <a:rPr lang="en-US" sz="3000">
                <a:solidFill>
                  <a:srgbClr val="70531C"/>
                </a:solidFill>
                <a:latin typeface="Poppins"/>
                <a:ea typeface="Poppins"/>
                <a:cs typeface="Poppins"/>
                <a:sym typeface="Poppins"/>
              </a:rPr>
              <a:t>Digital addiction levels vary significantly across countries.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Countries like USA and India show the highest average addiction scores, even with larger sample sizes.</a:t>
            </a:r>
          </a:p>
          <a:p>
            <a:pPr marL="647700" lvl="1" indent="-323850" algn="just">
              <a:lnSpc>
                <a:spcPts val="4500"/>
              </a:lnSpc>
              <a:buFont typeface="Arial"/>
              <a:buChar char="•"/>
            </a:pPr>
            <a:r>
              <a:rPr lang="en-US" sz="3000">
                <a:solidFill>
                  <a:srgbClr val="70531C"/>
                </a:solidFill>
                <a:latin typeface="Poppins"/>
                <a:ea typeface="Poppins"/>
                <a:cs typeface="Poppins"/>
                <a:sym typeface="Poppins"/>
              </a:rPr>
              <a:t>Lower-ranked countries display substantially lower addiction levels, indicating regional differences in digital behavior.</a:t>
            </a:r>
          </a:p>
          <a:p>
            <a:pPr algn="just">
              <a:lnSpc>
                <a:spcPts val="4500"/>
              </a:lnSpc>
            </a:pPr>
            <a:endParaRPr lang="en-US" sz="3000">
              <a:solidFill>
                <a:srgbClr val="70531C"/>
              </a:solidFill>
              <a:latin typeface="Poppins"/>
              <a:ea typeface="Poppins"/>
              <a:cs typeface="Poppins"/>
              <a:sym typeface="Poppins"/>
            </a:endParaRPr>
          </a:p>
        </p:txBody>
      </p:sp>
      <p:sp>
        <p:nvSpPr>
          <p:cNvPr id="8" name="TextBox 8"/>
          <p:cNvSpPr txBox="1"/>
          <p:nvPr/>
        </p:nvSpPr>
        <p:spPr>
          <a:xfrm>
            <a:off x="1593013" y="8601346"/>
            <a:ext cx="15055385" cy="933450"/>
          </a:xfrm>
          <a:prstGeom prst="rect">
            <a:avLst/>
          </a:prstGeom>
        </p:spPr>
        <p:txBody>
          <a:bodyPr lIns="0" tIns="0" rIns="0" bIns="0" rtlCol="0" anchor="t">
            <a:spAutoFit/>
          </a:bodyPr>
          <a:lstStyle/>
          <a:p>
            <a:pPr algn="ctr">
              <a:lnSpc>
                <a:spcPts val="3749"/>
              </a:lnSpc>
            </a:pPr>
            <a:r>
              <a:rPr lang="en-US" sz="2499" b="1">
                <a:solidFill>
                  <a:srgbClr val="FFF8EF"/>
                </a:solidFill>
                <a:latin typeface="Poppins Bold"/>
                <a:ea typeface="Poppins Bold"/>
                <a:cs typeface="Poppins Bold"/>
                <a:sym typeface="Poppins Bold"/>
              </a:rPr>
              <a:t>Conclusion:</a:t>
            </a:r>
            <a:r>
              <a:rPr lang="en-US" sz="2499">
                <a:solidFill>
                  <a:srgbClr val="FFF8EF"/>
                </a:solidFill>
                <a:latin typeface="Poppins"/>
                <a:ea typeface="Poppins"/>
                <a:cs typeface="Poppins"/>
                <a:sym typeface="Poppins"/>
              </a:rPr>
              <a:t>  Digital addiction is influenced by regional and cultural factors, highlighting the need for context-specific awareness strategies.</a:t>
            </a:r>
          </a:p>
        </p:txBody>
      </p:sp>
      <p:sp>
        <p:nvSpPr>
          <p:cNvPr id="9" name="TextBox 9"/>
          <p:cNvSpPr txBox="1"/>
          <p:nvPr/>
        </p:nvSpPr>
        <p:spPr>
          <a:xfrm>
            <a:off x="3223978" y="1225402"/>
            <a:ext cx="11753635" cy="241935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Contry-Wise Addiction Pattern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TextBox 4"/>
          <p:cNvSpPr txBox="1"/>
          <p:nvPr/>
        </p:nvSpPr>
        <p:spPr>
          <a:xfrm>
            <a:off x="3194627" y="704081"/>
            <a:ext cx="11753635"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Executive Summary</a:t>
            </a:r>
          </a:p>
        </p:txBody>
      </p:sp>
      <p:sp>
        <p:nvSpPr>
          <p:cNvPr id="5" name="TextBox 5"/>
          <p:cNvSpPr txBox="1"/>
          <p:nvPr/>
        </p:nvSpPr>
        <p:spPr>
          <a:xfrm>
            <a:off x="1213493" y="2190552"/>
            <a:ext cx="15861014" cy="8231505"/>
          </a:xfrm>
          <a:prstGeom prst="rect">
            <a:avLst/>
          </a:prstGeom>
        </p:spPr>
        <p:txBody>
          <a:bodyPr lIns="0" tIns="0" rIns="0" bIns="0" rtlCol="0" anchor="t">
            <a:spAutoFit/>
          </a:bodyPr>
          <a:lstStyle/>
          <a:p>
            <a:pPr algn="just">
              <a:lnSpc>
                <a:spcPts val="4050"/>
              </a:lnSpc>
            </a:pPr>
            <a:r>
              <a:rPr lang="en-US" sz="2700">
                <a:solidFill>
                  <a:srgbClr val="533800"/>
                </a:solidFill>
                <a:latin typeface="Poppins"/>
                <a:ea typeface="Poppins"/>
                <a:cs typeface="Poppins"/>
                <a:sym typeface="Poppins"/>
              </a:rPr>
              <a:t>This project analyzes student social media usage data to understand the impact of digital addiction on academics, sleep, mental health, and social relationships. Using MySQL-based descriptive and comparative analysis, students were segmented into usage and addiction risk groups.</a:t>
            </a:r>
          </a:p>
          <a:p>
            <a:pPr algn="just">
              <a:lnSpc>
                <a:spcPts val="4050"/>
              </a:lnSpc>
            </a:pPr>
            <a:endParaRPr lang="en-US" sz="2700">
              <a:solidFill>
                <a:srgbClr val="533800"/>
              </a:solidFill>
              <a:latin typeface="Poppins"/>
              <a:ea typeface="Poppins"/>
              <a:cs typeface="Poppins"/>
              <a:sym typeface="Poppins"/>
            </a:endParaRPr>
          </a:p>
          <a:p>
            <a:pPr algn="just">
              <a:lnSpc>
                <a:spcPts val="4050"/>
              </a:lnSpc>
            </a:pPr>
            <a:r>
              <a:rPr lang="en-US" sz="2700">
                <a:solidFill>
                  <a:srgbClr val="533800"/>
                </a:solidFill>
                <a:latin typeface="Poppins"/>
                <a:ea typeface="Poppins"/>
                <a:cs typeface="Poppins"/>
                <a:sym typeface="Poppins"/>
              </a:rPr>
              <a:t>Key findings show that high daily screen time is strongly associated with academic performance issues, with most high-usage students reporting negative academic impact. Increased screen exposure also correlates with reduced sleep duration, with heavy users averaging less than 6 hours per night. Additionally, higher addiction scores are linked to lower mental health scores and increased social media–related conflicts.</a:t>
            </a:r>
          </a:p>
          <a:p>
            <a:pPr algn="just">
              <a:lnSpc>
                <a:spcPts val="4050"/>
              </a:lnSpc>
            </a:pPr>
            <a:endParaRPr lang="en-US" sz="2700">
              <a:solidFill>
                <a:srgbClr val="533800"/>
              </a:solidFill>
              <a:latin typeface="Poppins"/>
              <a:ea typeface="Poppins"/>
              <a:cs typeface="Poppins"/>
              <a:sym typeface="Poppins"/>
            </a:endParaRPr>
          </a:p>
          <a:p>
            <a:pPr algn="just">
              <a:lnSpc>
                <a:spcPts val="4050"/>
              </a:lnSpc>
            </a:pPr>
            <a:r>
              <a:rPr lang="en-US" sz="2700">
                <a:solidFill>
                  <a:srgbClr val="533800"/>
                </a:solidFill>
                <a:latin typeface="Poppins"/>
                <a:ea typeface="Poppins"/>
                <a:cs typeface="Poppins"/>
                <a:sym typeface="Poppins"/>
              </a:rPr>
              <a:t>Platform-wise and country-wise analysis revealed that addiction levels vary across digital environments and regions. Overall, the results highlight that digital addiction is a widespread behavioral concern with measurable effects on student well-being and productivity.</a:t>
            </a:r>
          </a:p>
          <a:p>
            <a:pPr algn="just">
              <a:lnSpc>
                <a:spcPts val="4050"/>
              </a:lnSpc>
            </a:pPr>
            <a:endParaRPr lang="en-US" sz="2700">
              <a:solidFill>
                <a:srgbClr val="533800"/>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TextBox 4"/>
          <p:cNvSpPr txBox="1"/>
          <p:nvPr/>
        </p:nvSpPr>
        <p:spPr>
          <a:xfrm>
            <a:off x="2581082" y="778853"/>
            <a:ext cx="13430659"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Suggestions</a:t>
            </a:r>
          </a:p>
        </p:txBody>
      </p:sp>
      <p:sp>
        <p:nvSpPr>
          <p:cNvPr id="5" name="TextBox 5"/>
          <p:cNvSpPr txBox="1"/>
          <p:nvPr/>
        </p:nvSpPr>
        <p:spPr>
          <a:xfrm>
            <a:off x="2354430" y="2478120"/>
            <a:ext cx="14355185" cy="6637020"/>
          </a:xfrm>
          <a:prstGeom prst="rect">
            <a:avLst/>
          </a:prstGeom>
        </p:spPr>
        <p:txBody>
          <a:bodyPr lIns="0" tIns="0" rIns="0" bIns="0" rtlCol="0" anchor="t">
            <a:spAutoFit/>
          </a:bodyPr>
          <a:lstStyle/>
          <a:p>
            <a:pPr marL="582932" lvl="1" indent="-291466" algn="just">
              <a:lnSpc>
                <a:spcPts val="4050"/>
              </a:lnSpc>
              <a:buFont typeface="Arial"/>
              <a:buChar char="•"/>
            </a:pPr>
            <a:r>
              <a:rPr lang="en-US" sz="2700">
                <a:solidFill>
                  <a:srgbClr val="533800"/>
                </a:solidFill>
                <a:latin typeface="Poppins"/>
                <a:ea typeface="Poppins"/>
                <a:cs typeface="Poppins"/>
                <a:sym typeface="Poppins"/>
              </a:rPr>
              <a:t>Introduce structured awareness sessions in schools to educate students about excessive screen-time risks.</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Encourage daily screen-time boundaries (e.g., &lt; 5 hours/day) to reduce academic and sleep-related impact.</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Promote digital-free time before bed (at least 1 hour) to improve sleep duration and recovery.</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Provide counseling and stress-management resources for students showing high addiction and low mental health scores.</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Identify high-risk platforms and encourage mindful usage through app timers or restricted access during study hours.</a:t>
            </a:r>
          </a:p>
          <a:p>
            <a:pPr marL="582932" lvl="1" indent="-291466" algn="just">
              <a:lnSpc>
                <a:spcPts val="4050"/>
              </a:lnSpc>
              <a:buFont typeface="Arial"/>
              <a:buChar char="•"/>
            </a:pPr>
            <a:r>
              <a:rPr lang="en-US" sz="2700">
                <a:solidFill>
                  <a:srgbClr val="533800"/>
                </a:solidFill>
                <a:latin typeface="Poppins"/>
                <a:ea typeface="Poppins"/>
                <a:cs typeface="Poppins"/>
                <a:sym typeface="Poppins"/>
              </a:rPr>
              <a:t>Encourage offline social interaction and family involvement to reduce conflicts and improve real-world connections.</a:t>
            </a:r>
          </a:p>
          <a:p>
            <a:pPr algn="just">
              <a:lnSpc>
                <a:spcPts val="3600"/>
              </a:lnSpc>
            </a:pPr>
            <a:endParaRPr lang="en-US" sz="2700">
              <a:solidFill>
                <a:srgbClr val="533800"/>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788459" y="0"/>
            <a:ext cx="2499541" cy="2009006"/>
          </a:xfrm>
          <a:custGeom>
            <a:avLst/>
            <a:gdLst/>
            <a:ahLst/>
            <a:cxnLst/>
            <a:rect l="l" t="t" r="r" b="b"/>
            <a:pathLst>
              <a:path w="2499541" h="2009006">
                <a:moveTo>
                  <a:pt x="0" y="0"/>
                </a:moveTo>
                <a:lnTo>
                  <a:pt x="2499541" y="0"/>
                </a:lnTo>
                <a:lnTo>
                  <a:pt x="2499541" y="2009006"/>
                </a:lnTo>
                <a:lnTo>
                  <a:pt x="0" y="2009006"/>
                </a:lnTo>
                <a:lnTo>
                  <a:pt x="0" y="0"/>
                </a:lnTo>
                <a:close/>
              </a:path>
            </a:pathLst>
          </a:custGeom>
          <a:blipFill>
            <a:blip r:embed="rId2"/>
            <a:stretch>
              <a:fillRect/>
            </a:stretch>
          </a:blipFill>
        </p:spPr>
      </p:sp>
      <p:sp>
        <p:nvSpPr>
          <p:cNvPr id="3" name="Freeform 3"/>
          <p:cNvSpPr/>
          <p:nvPr/>
        </p:nvSpPr>
        <p:spPr>
          <a:xfrm rot="5400000">
            <a:off x="-287438" y="287438"/>
            <a:ext cx="2929307" cy="2354430"/>
          </a:xfrm>
          <a:custGeom>
            <a:avLst/>
            <a:gdLst/>
            <a:ahLst/>
            <a:cxnLst/>
            <a:rect l="l" t="t" r="r" b="b"/>
            <a:pathLst>
              <a:path w="2929307" h="2354430">
                <a:moveTo>
                  <a:pt x="0" y="0"/>
                </a:moveTo>
                <a:lnTo>
                  <a:pt x="2929306" y="0"/>
                </a:lnTo>
                <a:lnTo>
                  <a:pt x="2929306" y="2354430"/>
                </a:lnTo>
                <a:lnTo>
                  <a:pt x="0" y="2354430"/>
                </a:lnTo>
                <a:lnTo>
                  <a:pt x="0" y="0"/>
                </a:lnTo>
                <a:close/>
              </a:path>
            </a:pathLst>
          </a:custGeom>
          <a:blipFill>
            <a:blip r:embed="rId2"/>
            <a:stretch>
              <a:fillRect/>
            </a:stretch>
          </a:blipFill>
        </p:spPr>
      </p:sp>
      <p:sp>
        <p:nvSpPr>
          <p:cNvPr id="4" name="TextBox 4"/>
          <p:cNvSpPr txBox="1"/>
          <p:nvPr/>
        </p:nvSpPr>
        <p:spPr>
          <a:xfrm>
            <a:off x="2581082" y="778853"/>
            <a:ext cx="13430659" cy="1181100"/>
          </a:xfrm>
          <a:prstGeom prst="rect">
            <a:avLst/>
          </a:prstGeom>
        </p:spPr>
        <p:txBody>
          <a:bodyPr lIns="0" tIns="0" rIns="0" bIns="0" rtlCol="0" anchor="t">
            <a:spAutoFit/>
          </a:bodyPr>
          <a:lstStyle/>
          <a:p>
            <a:pPr algn="ctr">
              <a:lnSpc>
                <a:spcPts val="9750"/>
              </a:lnSpc>
            </a:pPr>
            <a:r>
              <a:rPr lang="en-US" sz="6500" b="1">
                <a:solidFill>
                  <a:srgbClr val="533800"/>
                </a:solidFill>
                <a:latin typeface="Montserrat Bold"/>
                <a:ea typeface="Montserrat Bold"/>
                <a:cs typeface="Montserrat Bold"/>
                <a:sym typeface="Montserrat Bold"/>
              </a:rPr>
              <a:t>Suggestions</a:t>
            </a:r>
          </a:p>
        </p:txBody>
      </p:sp>
      <p:sp>
        <p:nvSpPr>
          <p:cNvPr id="5" name="TextBox 5"/>
          <p:cNvSpPr txBox="1"/>
          <p:nvPr/>
        </p:nvSpPr>
        <p:spPr>
          <a:xfrm>
            <a:off x="1966407" y="2375862"/>
            <a:ext cx="14355185" cy="5093970"/>
          </a:xfrm>
          <a:prstGeom prst="rect">
            <a:avLst/>
          </a:prstGeom>
        </p:spPr>
        <p:txBody>
          <a:bodyPr lIns="0" tIns="0" rIns="0" bIns="0" rtlCol="0" anchor="t">
            <a:spAutoFit/>
          </a:bodyPr>
          <a:lstStyle/>
          <a:p>
            <a:pPr algn="just">
              <a:lnSpc>
                <a:spcPts val="4050"/>
              </a:lnSpc>
            </a:pPr>
            <a:r>
              <a:rPr lang="en-US" sz="2700">
                <a:solidFill>
                  <a:srgbClr val="533800"/>
                </a:solidFill>
                <a:latin typeface="Poppins"/>
                <a:ea typeface="Poppins"/>
                <a:cs typeface="Poppins"/>
                <a:sym typeface="Poppins"/>
              </a:rPr>
              <a:t>This analysis highlights that social media addiction is a widespread behavioral concern among students. The findings show that excessive daily screen time is strongly associated with negative academic outcomes, reduced sleep duration, declining mental health scores, and increased social conflicts.</a:t>
            </a:r>
          </a:p>
          <a:p>
            <a:pPr algn="just">
              <a:lnSpc>
                <a:spcPts val="4050"/>
              </a:lnSpc>
            </a:pPr>
            <a:endParaRPr lang="en-US" sz="2700">
              <a:solidFill>
                <a:srgbClr val="533800"/>
              </a:solidFill>
              <a:latin typeface="Poppins"/>
              <a:ea typeface="Poppins"/>
              <a:cs typeface="Poppins"/>
              <a:sym typeface="Poppins"/>
            </a:endParaRPr>
          </a:p>
          <a:p>
            <a:pPr algn="just">
              <a:lnSpc>
                <a:spcPts val="4050"/>
              </a:lnSpc>
            </a:pPr>
            <a:r>
              <a:rPr lang="en-US" sz="2700">
                <a:solidFill>
                  <a:srgbClr val="533800"/>
                </a:solidFill>
                <a:latin typeface="Poppins"/>
                <a:ea typeface="Poppins"/>
                <a:cs typeface="Poppins"/>
                <a:sym typeface="Poppins"/>
              </a:rPr>
              <a:t>Platform-wise and regional variations further suggest that digital addiction patterns are influenced by both engagement environments and contextual factors. Overall, the project demonstrates how SQL-based analytics can uncover meaningful behavioral insights and support awareness-driven interventions.</a:t>
            </a:r>
          </a:p>
          <a:p>
            <a:pPr algn="just">
              <a:lnSpc>
                <a:spcPts val="3600"/>
              </a:lnSpc>
            </a:pPr>
            <a:endParaRPr lang="en-US" sz="2700">
              <a:solidFill>
                <a:srgbClr val="533800"/>
              </a:solidFill>
              <a:latin typeface="Poppins"/>
              <a:ea typeface="Poppins"/>
              <a:cs typeface="Poppins"/>
              <a:sym typeface="Poppins"/>
            </a:endParaRPr>
          </a:p>
        </p:txBody>
      </p:sp>
      <p:grpSp>
        <p:nvGrpSpPr>
          <p:cNvPr id="6" name="Group 6"/>
          <p:cNvGrpSpPr/>
          <p:nvPr/>
        </p:nvGrpSpPr>
        <p:grpSpPr>
          <a:xfrm>
            <a:off x="1602252" y="8696010"/>
            <a:ext cx="15326941" cy="1144171"/>
            <a:chOff x="0" y="0"/>
            <a:chExt cx="4036725" cy="301346"/>
          </a:xfrm>
        </p:grpSpPr>
        <p:sp>
          <p:nvSpPr>
            <p:cNvPr id="7" name="Freeform 7"/>
            <p:cNvSpPr/>
            <p:nvPr/>
          </p:nvSpPr>
          <p:spPr>
            <a:xfrm>
              <a:off x="0" y="0"/>
              <a:ext cx="4036725" cy="301346"/>
            </a:xfrm>
            <a:custGeom>
              <a:avLst/>
              <a:gdLst/>
              <a:ahLst/>
              <a:cxnLst/>
              <a:rect l="l" t="t" r="r" b="b"/>
              <a:pathLst>
                <a:path w="4036725" h="301346">
                  <a:moveTo>
                    <a:pt x="25761" y="0"/>
                  </a:moveTo>
                  <a:lnTo>
                    <a:pt x="4010964" y="0"/>
                  </a:lnTo>
                  <a:cubicBezTo>
                    <a:pt x="4025192" y="0"/>
                    <a:pt x="4036725" y="11534"/>
                    <a:pt x="4036725" y="25761"/>
                  </a:cubicBezTo>
                  <a:lnTo>
                    <a:pt x="4036725" y="275584"/>
                  </a:lnTo>
                  <a:cubicBezTo>
                    <a:pt x="4036725" y="289812"/>
                    <a:pt x="4025192" y="301346"/>
                    <a:pt x="4010964" y="301346"/>
                  </a:cubicBezTo>
                  <a:lnTo>
                    <a:pt x="25761" y="301346"/>
                  </a:lnTo>
                  <a:cubicBezTo>
                    <a:pt x="11534" y="301346"/>
                    <a:pt x="0" y="289812"/>
                    <a:pt x="0" y="275584"/>
                  </a:cubicBezTo>
                  <a:lnTo>
                    <a:pt x="0" y="25761"/>
                  </a:lnTo>
                  <a:cubicBezTo>
                    <a:pt x="0" y="11534"/>
                    <a:pt x="11534" y="0"/>
                    <a:pt x="25761" y="0"/>
                  </a:cubicBezTo>
                  <a:close/>
                </a:path>
              </a:pathLst>
            </a:custGeom>
            <a:solidFill>
              <a:srgbClr val="70531C"/>
            </a:solidFill>
          </p:spPr>
        </p:sp>
        <p:sp>
          <p:nvSpPr>
            <p:cNvPr id="8" name="TextBox 8"/>
            <p:cNvSpPr txBox="1"/>
            <p:nvPr/>
          </p:nvSpPr>
          <p:spPr>
            <a:xfrm>
              <a:off x="0" y="-95250"/>
              <a:ext cx="4036725" cy="396596"/>
            </a:xfrm>
            <a:prstGeom prst="rect">
              <a:avLst/>
            </a:prstGeom>
          </p:spPr>
          <p:txBody>
            <a:bodyPr lIns="50800" tIns="50800" rIns="50800" bIns="50800" rtlCol="0" anchor="ctr"/>
            <a:lstStyle/>
            <a:p>
              <a:pPr algn="ctr">
                <a:lnSpc>
                  <a:spcPts val="3600"/>
                </a:lnSpc>
              </a:pPr>
              <a:endParaRPr/>
            </a:p>
          </p:txBody>
        </p:sp>
      </p:grpSp>
      <p:sp>
        <p:nvSpPr>
          <p:cNvPr id="9" name="TextBox 9"/>
          <p:cNvSpPr txBox="1"/>
          <p:nvPr/>
        </p:nvSpPr>
        <p:spPr>
          <a:xfrm>
            <a:off x="1602252" y="8700406"/>
            <a:ext cx="15326941" cy="1030605"/>
          </a:xfrm>
          <a:prstGeom prst="rect">
            <a:avLst/>
          </a:prstGeom>
        </p:spPr>
        <p:txBody>
          <a:bodyPr lIns="0" tIns="0" rIns="0" bIns="0" rtlCol="0" anchor="t">
            <a:spAutoFit/>
          </a:bodyPr>
          <a:lstStyle/>
          <a:p>
            <a:pPr algn="ctr">
              <a:lnSpc>
                <a:spcPts val="4050"/>
              </a:lnSpc>
            </a:pPr>
            <a:r>
              <a:rPr lang="en-US" sz="2700" b="1">
                <a:solidFill>
                  <a:srgbClr val="FFF8EF"/>
                </a:solidFill>
                <a:latin typeface="Poppins Bold"/>
                <a:ea typeface="Poppins Bold"/>
                <a:cs typeface="Poppins Bold"/>
                <a:sym typeface="Poppins Bold"/>
              </a:rPr>
              <a:t>Final Takeaway:</a:t>
            </a:r>
            <a:r>
              <a:rPr lang="en-US" sz="2700">
                <a:solidFill>
                  <a:srgbClr val="FFF8EF"/>
                </a:solidFill>
                <a:latin typeface="Poppins"/>
                <a:ea typeface="Poppins"/>
                <a:cs typeface="Poppins"/>
                <a:sym typeface="Poppins"/>
              </a:rPr>
              <a:t>  Promoting balanced digital habits is essential for improving student well-being, productivity, and mental health.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8EF"/>
        </a:solidFill>
        <a:effectLst/>
      </p:bgPr>
    </p:bg>
    <p:spTree>
      <p:nvGrpSpPr>
        <p:cNvPr id="1" name=""/>
        <p:cNvGrpSpPr/>
        <p:nvPr/>
      </p:nvGrpSpPr>
      <p:grpSpPr>
        <a:xfrm>
          <a:off x="0" y="0"/>
          <a:ext cx="0" cy="0"/>
          <a:chOff x="0" y="0"/>
          <a:chExt cx="0" cy="0"/>
        </a:xfrm>
      </p:grpSpPr>
      <p:sp>
        <p:nvSpPr>
          <p:cNvPr id="2" name="Freeform 2"/>
          <p:cNvSpPr/>
          <p:nvPr/>
        </p:nvSpPr>
        <p:spPr>
          <a:xfrm rot="-10800000">
            <a:off x="15323342" y="0"/>
            <a:ext cx="2964658" cy="2382844"/>
          </a:xfrm>
          <a:custGeom>
            <a:avLst/>
            <a:gdLst/>
            <a:ahLst/>
            <a:cxnLst/>
            <a:rect l="l" t="t" r="r" b="b"/>
            <a:pathLst>
              <a:path w="2964658" h="2382844">
                <a:moveTo>
                  <a:pt x="0" y="0"/>
                </a:moveTo>
                <a:lnTo>
                  <a:pt x="2964658" y="0"/>
                </a:lnTo>
                <a:lnTo>
                  <a:pt x="2964658" y="2382844"/>
                </a:lnTo>
                <a:lnTo>
                  <a:pt x="0" y="2382844"/>
                </a:lnTo>
                <a:lnTo>
                  <a:pt x="0" y="0"/>
                </a:lnTo>
                <a:close/>
              </a:path>
            </a:pathLst>
          </a:custGeom>
          <a:blipFill>
            <a:blip r:embed="rId2"/>
            <a:stretch>
              <a:fillRect/>
            </a:stretch>
          </a:blipFill>
        </p:spPr>
      </p:sp>
      <p:sp>
        <p:nvSpPr>
          <p:cNvPr id="3" name="Freeform 3"/>
          <p:cNvSpPr/>
          <p:nvPr/>
        </p:nvSpPr>
        <p:spPr>
          <a:xfrm rot="5400000">
            <a:off x="-308170" y="308170"/>
            <a:ext cx="3140586" cy="2524246"/>
          </a:xfrm>
          <a:custGeom>
            <a:avLst/>
            <a:gdLst/>
            <a:ahLst/>
            <a:cxnLst/>
            <a:rect l="l" t="t" r="r" b="b"/>
            <a:pathLst>
              <a:path w="3140586" h="2524246">
                <a:moveTo>
                  <a:pt x="0" y="0"/>
                </a:moveTo>
                <a:lnTo>
                  <a:pt x="3140586" y="0"/>
                </a:lnTo>
                <a:lnTo>
                  <a:pt x="3140586" y="2524246"/>
                </a:lnTo>
                <a:lnTo>
                  <a:pt x="0" y="2524246"/>
                </a:lnTo>
                <a:lnTo>
                  <a:pt x="0" y="0"/>
                </a:lnTo>
                <a:close/>
              </a:path>
            </a:pathLst>
          </a:custGeom>
          <a:blipFill>
            <a:blip r:embed="rId2"/>
            <a:stretch>
              <a:fillRect/>
            </a:stretch>
          </a:blipFill>
        </p:spPr>
      </p:sp>
      <p:sp>
        <p:nvSpPr>
          <p:cNvPr id="4" name="Freeform 4"/>
          <p:cNvSpPr/>
          <p:nvPr/>
        </p:nvSpPr>
        <p:spPr>
          <a:xfrm>
            <a:off x="0" y="8258137"/>
            <a:ext cx="2524246" cy="2028863"/>
          </a:xfrm>
          <a:custGeom>
            <a:avLst/>
            <a:gdLst/>
            <a:ahLst/>
            <a:cxnLst/>
            <a:rect l="l" t="t" r="r" b="b"/>
            <a:pathLst>
              <a:path w="2524246" h="2028863">
                <a:moveTo>
                  <a:pt x="0" y="0"/>
                </a:moveTo>
                <a:lnTo>
                  <a:pt x="2524246" y="0"/>
                </a:lnTo>
                <a:lnTo>
                  <a:pt x="2524246" y="2028863"/>
                </a:lnTo>
                <a:lnTo>
                  <a:pt x="0" y="2028863"/>
                </a:lnTo>
                <a:lnTo>
                  <a:pt x="0" y="0"/>
                </a:lnTo>
                <a:close/>
              </a:path>
            </a:pathLst>
          </a:custGeom>
          <a:blipFill>
            <a:blip r:embed="rId2"/>
            <a:stretch>
              <a:fillRect/>
            </a:stretch>
          </a:blipFill>
        </p:spPr>
      </p:sp>
      <p:sp>
        <p:nvSpPr>
          <p:cNvPr id="5" name="Freeform 5"/>
          <p:cNvSpPr/>
          <p:nvPr/>
        </p:nvSpPr>
        <p:spPr>
          <a:xfrm rot="-5400000">
            <a:off x="15923046" y="7922046"/>
            <a:ext cx="2622263" cy="2107644"/>
          </a:xfrm>
          <a:custGeom>
            <a:avLst/>
            <a:gdLst/>
            <a:ahLst/>
            <a:cxnLst/>
            <a:rect l="l" t="t" r="r" b="b"/>
            <a:pathLst>
              <a:path w="2622263" h="2107644">
                <a:moveTo>
                  <a:pt x="0" y="0"/>
                </a:moveTo>
                <a:lnTo>
                  <a:pt x="2622264" y="0"/>
                </a:lnTo>
                <a:lnTo>
                  <a:pt x="2622264" y="2107644"/>
                </a:lnTo>
                <a:lnTo>
                  <a:pt x="0" y="2107644"/>
                </a:lnTo>
                <a:lnTo>
                  <a:pt x="0" y="0"/>
                </a:lnTo>
                <a:close/>
              </a:path>
            </a:pathLst>
          </a:custGeom>
          <a:blipFill>
            <a:blip r:embed="rId2"/>
            <a:stretch>
              <a:fillRect/>
            </a:stretch>
          </a:blipFill>
        </p:spPr>
      </p:sp>
      <p:sp>
        <p:nvSpPr>
          <p:cNvPr id="6" name="TextBox 6"/>
          <p:cNvSpPr txBox="1"/>
          <p:nvPr/>
        </p:nvSpPr>
        <p:spPr>
          <a:xfrm>
            <a:off x="4739800" y="3563428"/>
            <a:ext cx="8808400" cy="1790701"/>
          </a:xfrm>
          <a:prstGeom prst="rect">
            <a:avLst/>
          </a:prstGeom>
        </p:spPr>
        <p:txBody>
          <a:bodyPr lIns="0" tIns="0" rIns="0" bIns="0" rtlCol="0" anchor="t">
            <a:spAutoFit/>
          </a:bodyPr>
          <a:lstStyle/>
          <a:p>
            <a:pPr algn="ctr">
              <a:lnSpc>
                <a:spcPts val="14999"/>
              </a:lnSpc>
            </a:pPr>
            <a:r>
              <a:rPr lang="en-US" sz="9999" b="1">
                <a:solidFill>
                  <a:srgbClr val="533800"/>
                </a:solidFill>
                <a:latin typeface="Montserrat Bold"/>
                <a:ea typeface="Montserrat Bold"/>
                <a:cs typeface="Montserrat Bold"/>
                <a:sym typeface="Montserrat Bold"/>
              </a:rPr>
              <a:t>Thank You!</a:t>
            </a:r>
          </a:p>
        </p:txBody>
      </p:sp>
      <p:sp>
        <p:nvSpPr>
          <p:cNvPr id="7" name="Freeform 7"/>
          <p:cNvSpPr/>
          <p:nvPr/>
        </p:nvSpPr>
        <p:spPr>
          <a:xfrm>
            <a:off x="6094962" y="6087754"/>
            <a:ext cx="527790" cy="527790"/>
          </a:xfrm>
          <a:custGeom>
            <a:avLst/>
            <a:gdLst/>
            <a:ahLst/>
            <a:cxnLst/>
            <a:rect l="l" t="t" r="r" b="b"/>
            <a:pathLst>
              <a:path w="527790" h="527790">
                <a:moveTo>
                  <a:pt x="0" y="0"/>
                </a:moveTo>
                <a:lnTo>
                  <a:pt x="527790" y="0"/>
                </a:lnTo>
                <a:lnTo>
                  <a:pt x="527790" y="527790"/>
                </a:lnTo>
                <a:lnTo>
                  <a:pt x="0" y="527790"/>
                </a:lnTo>
                <a:lnTo>
                  <a:pt x="0" y="0"/>
                </a:lnTo>
                <a:close/>
              </a:path>
            </a:pathLst>
          </a:custGeom>
          <a:blipFill>
            <a:blip r:embed="rId3"/>
            <a:stretch>
              <a:fillRect/>
            </a:stretch>
          </a:blipFill>
        </p:spPr>
      </p:sp>
      <p:sp>
        <p:nvSpPr>
          <p:cNvPr id="8" name="Freeform 8"/>
          <p:cNvSpPr/>
          <p:nvPr/>
        </p:nvSpPr>
        <p:spPr>
          <a:xfrm>
            <a:off x="7403802" y="6070352"/>
            <a:ext cx="545192" cy="545192"/>
          </a:xfrm>
          <a:custGeom>
            <a:avLst/>
            <a:gdLst/>
            <a:ahLst/>
            <a:cxnLst/>
            <a:rect l="l" t="t" r="r" b="b"/>
            <a:pathLst>
              <a:path w="545192" h="545192">
                <a:moveTo>
                  <a:pt x="0" y="0"/>
                </a:moveTo>
                <a:lnTo>
                  <a:pt x="545192" y="0"/>
                </a:lnTo>
                <a:lnTo>
                  <a:pt x="545192" y="545192"/>
                </a:lnTo>
                <a:lnTo>
                  <a:pt x="0" y="545192"/>
                </a:lnTo>
                <a:lnTo>
                  <a:pt x="0" y="0"/>
                </a:lnTo>
                <a:close/>
              </a:path>
            </a:pathLst>
          </a:custGeom>
          <a:blipFill>
            <a:blip r:embed="rId4"/>
            <a:stretch>
              <a:fillRect/>
            </a:stretch>
          </a:blipFill>
        </p:spPr>
      </p:sp>
      <p:sp>
        <p:nvSpPr>
          <p:cNvPr id="9" name="Freeform 9"/>
          <p:cNvSpPr/>
          <p:nvPr/>
        </p:nvSpPr>
        <p:spPr>
          <a:xfrm>
            <a:off x="8882444" y="6070352"/>
            <a:ext cx="523112" cy="523112"/>
          </a:xfrm>
          <a:custGeom>
            <a:avLst/>
            <a:gdLst/>
            <a:ahLst/>
            <a:cxnLst/>
            <a:rect l="l" t="t" r="r" b="b"/>
            <a:pathLst>
              <a:path w="523112" h="523112">
                <a:moveTo>
                  <a:pt x="0" y="0"/>
                </a:moveTo>
                <a:lnTo>
                  <a:pt x="523112" y="0"/>
                </a:lnTo>
                <a:lnTo>
                  <a:pt x="523112" y="523112"/>
                </a:lnTo>
                <a:lnTo>
                  <a:pt x="0" y="523112"/>
                </a:lnTo>
                <a:lnTo>
                  <a:pt x="0" y="0"/>
                </a:lnTo>
                <a:close/>
              </a:path>
            </a:pathLst>
          </a:custGeom>
          <a:blipFill>
            <a:blip r:embed="rId5"/>
            <a:stretch>
              <a:fillRect/>
            </a:stretch>
          </a:blipFill>
        </p:spPr>
      </p:sp>
      <p:sp>
        <p:nvSpPr>
          <p:cNvPr id="10" name="Freeform 10"/>
          <p:cNvSpPr/>
          <p:nvPr/>
        </p:nvSpPr>
        <p:spPr>
          <a:xfrm>
            <a:off x="10339006" y="5992855"/>
            <a:ext cx="523112" cy="523112"/>
          </a:xfrm>
          <a:custGeom>
            <a:avLst/>
            <a:gdLst/>
            <a:ahLst/>
            <a:cxnLst/>
            <a:rect l="l" t="t" r="r" b="b"/>
            <a:pathLst>
              <a:path w="523112" h="523112">
                <a:moveTo>
                  <a:pt x="0" y="0"/>
                </a:moveTo>
                <a:lnTo>
                  <a:pt x="523112" y="0"/>
                </a:lnTo>
                <a:lnTo>
                  <a:pt x="523112" y="523112"/>
                </a:lnTo>
                <a:lnTo>
                  <a:pt x="0" y="523112"/>
                </a:lnTo>
                <a:lnTo>
                  <a:pt x="0" y="0"/>
                </a:lnTo>
                <a:close/>
              </a:path>
            </a:pathLst>
          </a:custGeom>
          <a:blipFill>
            <a:blip r:embed="rId6"/>
            <a:stretch>
              <a:fillRect/>
            </a:stretch>
          </a:blipFill>
        </p:spPr>
      </p:sp>
      <p:sp>
        <p:nvSpPr>
          <p:cNvPr id="11" name="Freeform 11"/>
          <p:cNvSpPr/>
          <p:nvPr/>
        </p:nvSpPr>
        <p:spPr>
          <a:xfrm>
            <a:off x="11795568" y="6022903"/>
            <a:ext cx="467695" cy="467695"/>
          </a:xfrm>
          <a:custGeom>
            <a:avLst/>
            <a:gdLst/>
            <a:ahLst/>
            <a:cxnLst/>
            <a:rect l="l" t="t" r="r" b="b"/>
            <a:pathLst>
              <a:path w="467695" h="467695">
                <a:moveTo>
                  <a:pt x="0" y="0"/>
                </a:moveTo>
                <a:lnTo>
                  <a:pt x="467695" y="0"/>
                </a:lnTo>
                <a:lnTo>
                  <a:pt x="467695" y="467694"/>
                </a:lnTo>
                <a:lnTo>
                  <a:pt x="0" y="467694"/>
                </a:lnTo>
                <a:lnTo>
                  <a:pt x="0" y="0"/>
                </a:lnTo>
                <a:close/>
              </a:path>
            </a:pathLst>
          </a:custGeom>
          <a:blipFill>
            <a:blip r:embed="rId7"/>
            <a:stretch>
              <a:fillRect/>
            </a:stretch>
          </a:blipFill>
        </p:spPr>
      </p:sp>
      <p:sp>
        <p:nvSpPr>
          <p:cNvPr id="12" name="TextBox 12"/>
          <p:cNvSpPr txBox="1"/>
          <p:nvPr/>
        </p:nvSpPr>
        <p:spPr>
          <a:xfrm>
            <a:off x="4865191" y="4880057"/>
            <a:ext cx="9080731" cy="1112798"/>
          </a:xfrm>
          <a:prstGeom prst="rect">
            <a:avLst/>
          </a:prstGeom>
        </p:spPr>
        <p:txBody>
          <a:bodyPr lIns="0" tIns="0" rIns="0" bIns="0" rtlCol="0" anchor="t">
            <a:spAutoFit/>
          </a:bodyPr>
          <a:lstStyle/>
          <a:p>
            <a:pPr algn="ctr">
              <a:lnSpc>
                <a:spcPts val="8796"/>
              </a:lnSpc>
            </a:pPr>
            <a:r>
              <a:rPr lang="en-US" sz="5864">
                <a:solidFill>
                  <a:srgbClr val="533800"/>
                </a:solidFill>
                <a:latin typeface="Poppins"/>
                <a:ea typeface="Poppins"/>
                <a:cs typeface="Poppins"/>
                <a:sym typeface="Poppin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1681</Words>
  <Application>Microsoft Office PowerPoint</Application>
  <PresentationFormat>Custom</PresentationFormat>
  <Paragraphs>187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Poppins</vt:lpstr>
      <vt:lpstr>Montserrat Bold</vt:lpstr>
      <vt:lpstr>Montserrat</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Simple Student Report Presentation</dc:title>
  <dc:creator>DELL</dc:creator>
  <cp:lastModifiedBy>ashraf.lization@gmail.com</cp:lastModifiedBy>
  <cp:revision>4</cp:revision>
  <dcterms:created xsi:type="dcterms:W3CDTF">2006-08-16T00:00:00Z</dcterms:created>
  <dcterms:modified xsi:type="dcterms:W3CDTF">2026-02-06T16:02:46Z</dcterms:modified>
  <dc:identifier>DAHAD2pSAZs</dc:identifier>
</cp:coreProperties>
</file>